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Space Grotesk" charset="-122" pitchFamily="34"/>
      <p:regular r:id="rId13"/>
    </p:embeddedFont>
    <p:embeddedFont>
      <p:font typeface="JetBrains Mono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00FF88">
              <a:alpha val="7059"/>
            </a:srgbClr>
          </a:solidFill>
          <a:ln>
            <a:noFill/>
          </a:ln>
        </p:spPr>
      </p:sp>
      <p:sp>
        <p:nvSpPr>
          <p:cNvPr id="3" name="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00FF88">
              <a:alpha val="7059"/>
            </a:srgbClr>
          </a:solidFill>
          <a:ln>
            <a:noFill/>
          </a:ln>
        </p:spPr>
      </p:sp>
      <p:sp>
        <p:nvSpPr>
          <p:cNvPr id="4" name="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00FF88">
              <a:alpha val="7059"/>
            </a:srgbClr>
          </a:solidFill>
          <a:ln>
            <a:noFill/>
          </a:ln>
        </p:spPr>
      </p:sp>
      <p:sp>
        <p:nvSpPr>
          <p:cNvPr id="5" name="grid-h1"/>
          <p:cNvSpPr/>
          <p:nvPr/>
        </p:nvSpPr>
        <p:spPr>
          <a:xfrm>
            <a:off x="0" y="2286000"/>
            <a:ext cx="12192000" cy="12700"/>
          </a:xfrm>
          <a:prstGeom prst="rect">
            <a:avLst/>
          </a:prstGeom>
          <a:solidFill>
            <a:srgbClr val="00FF88">
              <a:alpha val="5098"/>
            </a:srgbClr>
          </a:solidFill>
          <a:ln>
            <a:noFill/>
          </a:ln>
        </p:spPr>
      </p:sp>
      <p:sp>
        <p:nvSpPr>
          <p:cNvPr id="6" name="grid-h2"/>
          <p:cNvSpPr/>
          <p:nvPr/>
        </p:nvSpPr>
        <p:spPr>
          <a:xfrm>
            <a:off x="0" y="4572000"/>
            <a:ext cx="12192000" cy="12700"/>
          </a:xfrm>
          <a:prstGeom prst="rect">
            <a:avLst/>
          </a:prstGeom>
          <a:solidFill>
            <a:srgbClr val="00FF88">
              <a:alpha val="5098"/>
            </a:srgbClr>
          </a:solidFill>
          <a:ln>
            <a:noFill/>
          </a:ln>
        </p:spPr>
      </p:sp>
      <p:sp>
        <p:nvSpPr>
          <p:cNvPr id="7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8" name="meta"/>
          <p:cNvSpPr txBox="1"/>
          <p:nvPr/>
        </p:nvSpPr>
        <p:spPr>
          <a:xfrm>
            <a:off x="863600" y="3175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PORTFOLIO WEBSITE / DESIGN + BUILD SPEC</a:t>
            </a:r>
            <a:endParaRPr lang="en-US" sz="1000" noProof="1"/>
          </a:p>
        </p:txBody>
      </p:sp>
      <p:sp>
        <p:nvSpPr>
          <p:cNvPr id="9" name="page-num"/>
          <p:cNvSpPr txBox="1"/>
          <p:nvPr/>
        </p:nvSpPr>
        <p:spPr>
          <a:xfrm>
            <a:off x="10795000" y="3175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01 / 10</a:t>
            </a:r>
            <a:endParaRPr lang="en-US" sz="1000" noProof="1"/>
          </a:p>
        </p:txBody>
      </p:sp>
      <p:sp>
        <p:nvSpPr>
          <p:cNvPr id="10" name="title-glitch"/>
          <p:cNvSpPr txBox="1"/>
          <p:nvPr/>
        </p:nvSpPr>
        <p:spPr>
          <a:xfrm>
            <a:off x="647700" y="1485900"/>
            <a:ext cx="7493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200" noProof="1" b="1">
                <a:solidFill>
                  <a:srgbClr val="00FF88">
                    <a:alpha val="35000"/>
                  </a:srgbClr>
                </a:solidFill>
                <a:latin typeface="Space Grotesk"/>
                <a:ea typeface="Space Grotesk"/>
              </a:rPr>
              <a:t>HICHCHI H4X</a:t>
            </a:r>
            <a:endParaRPr lang="en-US" sz="6200" noProof="1"/>
          </a:p>
        </p:txBody>
      </p:sp>
      <p:sp>
        <p:nvSpPr>
          <p:cNvPr id="11" name="title"/>
          <p:cNvSpPr txBox="1"/>
          <p:nvPr/>
        </p:nvSpPr>
        <p:spPr>
          <a:xfrm>
            <a:off x="609600" y="1435100"/>
            <a:ext cx="7493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200" noProof="1" b="1">
                <a:solidFill>
                  <a:srgbClr val="F4F7F5"/>
                </a:solidFill>
                <a:effectLst>
                  <a:outerShdw blurRad="101600" dist="0" dir="0" sx="100000" sy="100000" kx="0" ky="0" algn="bl" rotWithShape="0">
                    <a:srgbClr val="00FF88">
                      <a:alpha val="26667"/>
                    </a:srgbClr>
                  </a:outerShdw>
                </a:effectLst>
                <a:latin typeface="Space Grotesk"/>
                <a:ea typeface="Space Grotesk"/>
              </a:rPr>
              <a:t>HICHCHI H4X</a:t>
            </a:r>
            <a:endParaRPr lang="en-US" sz="6200" noProof="1"/>
          </a:p>
        </p:txBody>
      </p:sp>
      <p:sp>
        <p:nvSpPr>
          <p:cNvPr id="12" name="role"/>
          <p:cNvSpPr txBox="1"/>
          <p:nvPr/>
        </p:nvSpPr>
        <p:spPr>
          <a:xfrm>
            <a:off x="635000" y="26035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spc="70" kern="0">
                <a:solidFill>
                  <a:srgbClr val="00FF88"/>
                </a:solidFill>
                <a:latin typeface="JetBrains Mono"/>
                <a:ea typeface="JetBrains Mono"/>
              </a:rPr>
              <a:t>WEB DEVELOPER | CREATIVE CODER | DIGITAL BUILDER</a:t>
            </a:r>
            <a:endParaRPr lang="en-US" sz="1300" noProof="1"/>
          </a:p>
        </p:txBody>
      </p:sp>
      <p:sp>
        <p:nvSpPr>
          <p:cNvPr id="13" name="intro"/>
          <p:cNvSpPr txBox="1"/>
          <p:nvPr/>
        </p:nvSpPr>
        <p:spPr>
          <a:xfrm>
            <a:off x="635000" y="3213100"/>
            <a:ext cx="64135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F4F7F5"/>
                </a:solidFill>
                <a:latin typeface="Space Grotesk"/>
                <a:ea typeface="Space Grotesk"/>
              </a:rPr>
              <a:t>I build modern, responsive, and interactive websites that bring ideas to life.</a:t>
            </a:r>
            <a:endParaRPr lang="en-US" sz="1800" noProof="1"/>
          </a:p>
        </p:txBody>
      </p:sp>
      <p:sp>
        <p:nvSpPr>
          <p:cNvPr id="14" name="cta-primary"/>
          <p:cNvSpPr/>
          <p:nvPr/>
        </p:nvSpPr>
        <p:spPr>
          <a:xfrm>
            <a:off x="635000" y="4330700"/>
            <a:ext cx="2336800" cy="5842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5" name="cta-primary-label"/>
          <p:cNvSpPr txBox="1"/>
          <p:nvPr/>
        </p:nvSpPr>
        <p:spPr>
          <a:xfrm>
            <a:off x="825500" y="4457700"/>
            <a:ext cx="19558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050505"/>
                </a:solidFill>
                <a:latin typeface="JetBrains Mono"/>
                <a:ea typeface="JetBrains Mono"/>
              </a:rPr>
              <a:t>EXPLORE MY WORK  ↗</a:t>
            </a:r>
            <a:endParaRPr lang="en-US" sz="1100" noProof="1"/>
          </a:p>
        </p:txBody>
      </p:sp>
      <p:sp>
        <p:nvSpPr>
          <p:cNvPr id="16" name="cta-secondary"/>
          <p:cNvSpPr/>
          <p:nvPr/>
        </p:nvSpPr>
        <p:spPr>
          <a:xfrm>
            <a:off x="3149600" y="4330700"/>
            <a:ext cx="1905000" cy="584200"/>
          </a:xfrm>
          <a:prstGeom prst="rect">
            <a:avLst/>
          </a:prstGeom>
          <a:solidFill>
            <a:srgbClr val="050505">
              <a:alpha val="0"/>
            </a:srgbClr>
          </a:solidFill>
          <a:ln w="12700">
            <a:solidFill>
              <a:srgbClr val="26332C"/>
            </a:solidFill>
          </a:ln>
        </p:spPr>
      </p:sp>
      <p:sp>
        <p:nvSpPr>
          <p:cNvPr id="17" name="cta-secondary-label"/>
          <p:cNvSpPr txBox="1"/>
          <p:nvPr/>
        </p:nvSpPr>
        <p:spPr>
          <a:xfrm>
            <a:off x="3340100" y="4457700"/>
            <a:ext cx="152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4F7F5"/>
                </a:solidFill>
                <a:latin typeface="JetBrains Mono"/>
                <a:ea typeface="JetBrains Mono"/>
              </a:rPr>
              <a:t>CONTACT ME</a:t>
            </a:r>
            <a:endParaRPr lang="en-US" sz="1100" noProof="1"/>
          </a:p>
        </p:txBody>
      </p:sp>
      <p:sp>
        <p:nvSpPr>
          <p:cNvPr id="18" name="terminal-glow"/>
          <p:cNvSpPr/>
          <p:nvPr/>
        </p:nvSpPr>
        <p:spPr>
          <a:xfrm>
            <a:off x="8255000" y="1104900"/>
            <a:ext cx="3429000" cy="4191000"/>
          </a:xfrm>
          <a:prstGeom prst="rect">
            <a:avLst/>
          </a:prstGeom>
          <a:solidFill>
            <a:srgbClr val="00FF88">
              <a:alpha val="3137"/>
            </a:srgbClr>
          </a:solidFill>
          <a:ln w="12700">
            <a:solidFill>
              <a:srgbClr val="00FF88">
                <a:alpha val="26667"/>
              </a:srgbClr>
            </a:solidFill>
          </a:ln>
          <a:effectLst>
            <a:outerShdw blurRad="254000" dist="0" dir="0" sx="100000" sy="100000" kx="0" ky="0" algn="bl" rotWithShape="0">
              <a:srgbClr val="00FF88">
                <a:alpha val="13333"/>
              </a:srgbClr>
            </a:outerShdw>
          </a:effectLst>
        </p:spPr>
      </p:sp>
      <p:sp>
        <p:nvSpPr>
          <p:cNvPr id="19" name="terminal-top"/>
          <p:cNvSpPr/>
          <p:nvPr/>
        </p:nvSpPr>
        <p:spPr>
          <a:xfrm>
            <a:off x="8255000" y="1104900"/>
            <a:ext cx="3429000" cy="457200"/>
          </a:xfrm>
          <a:prstGeom prst="rect">
            <a:avLst/>
          </a:prstGeom>
          <a:solidFill>
            <a:srgbClr val="121816">
              <a:alpha val="80000"/>
            </a:srgbClr>
          </a:solidFill>
          <a:ln>
            <a:noFill/>
          </a:ln>
        </p:spPr>
      </p:sp>
      <p:sp>
        <p:nvSpPr>
          <p:cNvPr id="20" name="dot1"/>
          <p:cNvSpPr/>
          <p:nvPr/>
        </p:nvSpPr>
        <p:spPr>
          <a:xfrm>
            <a:off x="8470900" y="1295400"/>
            <a:ext cx="76200" cy="76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21" name="dot2"/>
          <p:cNvSpPr/>
          <p:nvPr/>
        </p:nvSpPr>
        <p:spPr>
          <a:xfrm>
            <a:off x="8636000" y="1295400"/>
            <a:ext cx="76200" cy="76200"/>
          </a:xfrm>
          <a:prstGeom prst="ellipse">
            <a:avLst/>
          </a:prstGeom>
          <a:solidFill>
            <a:srgbClr val="617068"/>
          </a:solidFill>
          <a:ln>
            <a:noFill/>
          </a:ln>
        </p:spPr>
      </p:sp>
      <p:sp>
        <p:nvSpPr>
          <p:cNvPr id="22" name="dot3"/>
          <p:cNvSpPr/>
          <p:nvPr/>
        </p:nvSpPr>
        <p:spPr>
          <a:xfrm>
            <a:off x="8801100" y="1295400"/>
            <a:ext cx="76200" cy="76200"/>
          </a:xfrm>
          <a:prstGeom prst="ellipse">
            <a:avLst/>
          </a:prstGeom>
          <a:solidFill>
            <a:srgbClr val="617068"/>
          </a:solidFill>
          <a:ln>
            <a:noFill/>
          </a:ln>
        </p:spPr>
      </p:sp>
      <p:sp>
        <p:nvSpPr>
          <p:cNvPr id="23" name="terminal-title"/>
          <p:cNvSpPr txBox="1"/>
          <p:nvPr/>
        </p:nvSpPr>
        <p:spPr>
          <a:xfrm>
            <a:off x="9118600" y="1219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portfolio.exe</a:t>
            </a:r>
            <a:endParaRPr lang="en-US" sz="900" noProof="1"/>
          </a:p>
        </p:txBody>
      </p:sp>
      <p:sp>
        <p:nvSpPr>
          <p:cNvPr id="24" name="code"/>
          <p:cNvSpPr txBox="1"/>
          <p:nvPr/>
        </p:nvSpPr>
        <p:spPr>
          <a:xfrm>
            <a:off x="8509000" y="1841500"/>
            <a:ext cx="2895600" cy="260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const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developer = {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 name: </a:t>
            </a:r>
            <a:r>
              <a:rPr lang="en-US" sz="1100" noProof="1">
                <a:solidFill>
                  <a:srgbClr val="F4F7F5"/>
                </a:solidFill>
                <a:latin typeface="JetBrains Mono"/>
                <a:ea typeface="JetBrains Mono"/>
              </a:rPr>
              <a:t>"HICHCHI H4X"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,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 focus: </a:t>
            </a:r>
            <a:r>
              <a:rPr lang="en-US" sz="1100" noProof="1">
                <a:solidFill>
                  <a:srgbClr val="F4F7F5"/>
                </a:solidFill>
                <a:latin typeface="JetBrains Mono"/>
                <a:ea typeface="JetBrains Mono"/>
              </a:rPr>
              <a:t>"web experiences"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,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 stack: [</a:t>
            </a:r>
            <a:r>
              <a:rPr lang="en-US" sz="1100" noProof="1">
                <a:solidFill>
                  <a:srgbClr val="F4F7F5"/>
                </a:solidFill>
                <a:latin typeface="JetBrains Mono"/>
                <a:ea typeface="JetBrains Mono"/>
              </a:rPr>
              <a:t>"HTML", "CSS", "JS"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],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 status: </a:t>
            </a: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"building"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};</a:t>
            </a:r>
            <a:endParaRPr lang="en-US" sz="1100" noProof="1"/>
          </a:p>
          <a:p>
            <a:pPr>
              <a:lnSpc>
                <a:spcPct val="16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&gt;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Building the Digital Future.</a:t>
            </a: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_</a:t>
            </a:r>
            <a:endParaRPr lang="en-US" sz="1100" noProof="1"/>
          </a:p>
        </p:txBody>
      </p:sp>
      <p:sp>
        <p:nvSpPr>
          <p:cNvPr id="25" name="terminal-status"/>
          <p:cNvSpPr/>
          <p:nvPr/>
        </p:nvSpPr>
        <p:spPr>
          <a:xfrm>
            <a:off x="8509000" y="4737100"/>
            <a:ext cx="2667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6" name="terminal-foot"/>
          <p:cNvSpPr txBox="1"/>
          <p:nvPr/>
        </p:nvSpPr>
        <p:spPr>
          <a:xfrm>
            <a:off x="8509000" y="48895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SYSTEM ONLINE / 2026</a:t>
            </a:r>
            <a:endParaRPr lang="en-US" sz="900" noProof="1"/>
          </a:p>
        </p:txBody>
      </p:sp>
      <p:sp>
        <p:nvSpPr>
          <p:cNvPr id="27" name="footer"/>
          <p:cNvSpPr txBox="1"/>
          <p:nvPr/>
        </p:nvSpPr>
        <p:spPr>
          <a:xfrm>
            <a:off x="635000" y="61214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CYBERPUNK / FUTURISTIC / RESPONSIVE / VANILLA JS</a:t>
            </a:r>
            <a:endParaRPr lang="en-US" sz="900" noProof="1"/>
          </a:p>
        </p:txBody>
      </p:sp>
      <p:sp>
        <p:nvSpPr>
          <p:cNvPr id="28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panel"/>
          <p:cNvSpPr/>
          <p:nvPr/>
        </p:nvSpPr>
        <p:spPr>
          <a:xfrm>
            <a:off x="8788400" y="0"/>
            <a:ext cx="3403600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4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01 / CREATIVE DIRECTION</a:t>
            </a:r>
            <a:endParaRPr lang="en-US" sz="1000" noProof="1"/>
          </a:p>
        </p:txBody>
      </p:sp>
      <p:sp>
        <p:nvSpPr>
          <p:cNvPr id="5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50505"/>
                </a:solidFill>
                <a:latin typeface="JetBrains Mono"/>
                <a:ea typeface="JetBrains Mono"/>
              </a:rPr>
              <a:t>02 / 10</a:t>
            </a:r>
            <a:endParaRPr lang="en-US" sz="10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1003300"/>
            <a:ext cx="723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A premium dark-tech identity.</a:t>
            </a:r>
            <a:endParaRPr lang="en-US" sz="38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816100"/>
            <a:ext cx="6477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700" noProof="1">
                <a:solidFill>
                  <a:srgbClr val="A0AFA6"/>
                </a:solidFill>
                <a:latin typeface="Space Grotesk"/>
                <a:ea typeface="Space Grotesk"/>
              </a:rPr>
              <a:t>Cyberpunk character with professional restraint: crisp typography, controlled glow, translucent surfaces, and smooth transitions.</a:t>
            </a:r>
            <a:endParaRPr lang="en-US" sz="1700" noProof="1"/>
          </a:p>
        </p:txBody>
      </p:sp>
      <p:sp>
        <p:nvSpPr>
          <p:cNvPr id="8" name="big-words"/>
          <p:cNvSpPr txBox="1"/>
          <p:nvPr/>
        </p:nvSpPr>
        <p:spPr>
          <a:xfrm>
            <a:off x="609600" y="2794000"/>
            <a:ext cx="6477000" cy="187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2000"/>
              </a:lnSpc>
            </a:pPr>
            <a:r>
              <a:rPr lang="en-US" sz="4800" noProof="1" b="1">
                <a:solidFill>
                  <a:srgbClr val="F4F7F5"/>
                </a:solidFill>
                <a:latin typeface="Space Grotesk"/>
                <a:ea typeface="Space Grotesk"/>
              </a:rPr>
              <a:t>DARK. </a:t>
            </a:r>
            <a:r>
              <a:rPr lang="en-US" sz="4800" noProof="1" b="1">
                <a:solidFill>
                  <a:srgbClr val="00FF88"/>
                </a:solidFill>
                <a:latin typeface="Space Grotesk"/>
                <a:ea typeface="Space Grotesk"/>
              </a:rPr>
              <a:t>SHARP.</a:t>
            </a:r>
            <a:endParaRPr lang="en-US" sz="4800" noProof="1"/>
          </a:p>
          <a:p>
            <a:pPr>
              <a:lnSpc>
                <a:spcPct val="102000"/>
              </a:lnSpc>
            </a:pPr>
            <a:r>
              <a:rPr lang="en-US" sz="4800" noProof="1" b="1">
                <a:solidFill>
                  <a:srgbClr val="F4F7F5"/>
                </a:solidFill>
                <a:latin typeface="Space Grotesk"/>
                <a:ea typeface="Space Grotesk"/>
              </a:rPr>
              <a:t>RESPONSIVE.</a:t>
            </a:r>
            <a:endParaRPr lang="en-US" sz="4800" noProof="1"/>
          </a:p>
        </p:txBody>
      </p:sp>
      <p:sp>
        <p:nvSpPr>
          <p:cNvPr id="9" name="palette-label"/>
          <p:cNvSpPr txBox="1"/>
          <p:nvPr/>
        </p:nvSpPr>
        <p:spPr>
          <a:xfrm>
            <a:off x="609600" y="5016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CORE PALETTE</a:t>
            </a:r>
            <a:endParaRPr lang="en-US" sz="900" noProof="1"/>
          </a:p>
        </p:txBody>
      </p:sp>
      <p:sp>
        <p:nvSpPr>
          <p:cNvPr id="10" name="swatch-black"/>
          <p:cNvSpPr/>
          <p:nvPr/>
        </p:nvSpPr>
        <p:spPr>
          <a:xfrm>
            <a:off x="609600" y="5397500"/>
            <a:ext cx="1422400" cy="482600"/>
          </a:xfrm>
          <a:prstGeom prst="rect">
            <a:avLst/>
          </a:prstGeom>
          <a:solidFill>
            <a:srgbClr val="050505"/>
          </a:solidFill>
          <a:ln w="12700">
            <a:solidFill>
              <a:srgbClr val="26332C"/>
            </a:solidFill>
          </a:ln>
        </p:spPr>
      </p:sp>
      <p:sp>
        <p:nvSpPr>
          <p:cNvPr id="11" name="swatch-green"/>
          <p:cNvSpPr/>
          <p:nvPr/>
        </p:nvSpPr>
        <p:spPr>
          <a:xfrm>
            <a:off x="2133600" y="5397500"/>
            <a:ext cx="1422400" cy="4826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2" name="swatch-white"/>
          <p:cNvSpPr/>
          <p:nvPr/>
        </p:nvSpPr>
        <p:spPr>
          <a:xfrm>
            <a:off x="3657600" y="5397500"/>
            <a:ext cx="1422400" cy="482600"/>
          </a:xfrm>
          <a:prstGeom prst="rect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13" name="swatch-gray"/>
          <p:cNvSpPr/>
          <p:nvPr/>
        </p:nvSpPr>
        <p:spPr>
          <a:xfrm>
            <a:off x="5181600" y="5397500"/>
            <a:ext cx="1422400" cy="482600"/>
          </a:xfrm>
          <a:prstGeom prst="rect">
            <a:avLst/>
          </a:prstGeom>
          <a:solidFill>
            <a:srgbClr val="121816"/>
          </a:solidFill>
          <a:ln>
            <a:noFill/>
          </a:ln>
        </p:spPr>
      </p:sp>
      <p:sp>
        <p:nvSpPr>
          <p:cNvPr id="14" name="hex-codes"/>
          <p:cNvSpPr txBox="1"/>
          <p:nvPr/>
        </p:nvSpPr>
        <p:spPr>
          <a:xfrm>
            <a:off x="609600" y="5969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#050505        #00FF88        #F4F7F5        #121816</a:t>
            </a:r>
            <a:endParaRPr lang="en-US" sz="900" noProof="1"/>
          </a:p>
        </p:txBody>
      </p:sp>
      <p:sp>
        <p:nvSpPr>
          <p:cNvPr id="15" name="green-title"/>
          <p:cNvSpPr txBox="1"/>
          <p:nvPr/>
        </p:nvSpPr>
        <p:spPr>
          <a:xfrm>
            <a:off x="9194800" y="1041400"/>
            <a:ext cx="2540000" cy="146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98000"/>
              </a:lnSpc>
            </a:pPr>
            <a:r>
              <a:rPr lang="en-US" sz="4600" noProof="1" b="1">
                <a:solidFill>
                  <a:srgbClr val="050505"/>
                </a:solidFill>
                <a:latin typeface="Space Grotesk"/>
                <a:ea typeface="Space Grotesk"/>
              </a:rPr>
              <a:t>NEON</a:t>
            </a:r>
            <a:endParaRPr lang="en-US" sz="4600" noProof="1"/>
          </a:p>
          <a:p>
            <a:pPr>
              <a:lnSpc>
                <a:spcPct val="98000"/>
              </a:lnSpc>
            </a:pPr>
            <a:r>
              <a:rPr lang="en-US" sz="4600" noProof="1" b="1">
                <a:solidFill>
                  <a:srgbClr val="050505"/>
                </a:solidFill>
                <a:latin typeface="Space Grotesk"/>
                <a:ea typeface="Space Grotesk"/>
              </a:rPr>
              <a:t>GREEN</a:t>
            </a:r>
            <a:endParaRPr lang="en-US" sz="4600" noProof="1"/>
          </a:p>
        </p:txBody>
      </p:sp>
      <p:sp>
        <p:nvSpPr>
          <p:cNvPr id="16" name="green-sub"/>
          <p:cNvSpPr txBox="1"/>
          <p:nvPr/>
        </p:nvSpPr>
        <p:spPr>
          <a:xfrm>
            <a:off x="9220200" y="26543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50505"/>
                </a:solidFill>
                <a:latin typeface="JetBrains Mono"/>
                <a:ea typeface="JetBrains Mono"/>
              </a:rPr>
              <a:t>#00FF88 / ACCENT</a:t>
            </a:r>
            <a:endParaRPr lang="en-US" sz="1200" noProof="1"/>
          </a:p>
        </p:txBody>
      </p:sp>
      <p:sp>
        <p:nvSpPr>
          <p:cNvPr id="17" name="green-rule"/>
          <p:cNvSpPr/>
          <p:nvPr/>
        </p:nvSpPr>
        <p:spPr>
          <a:xfrm>
            <a:off x="9220200" y="3175000"/>
            <a:ext cx="2235200" cy="254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18" name="design-tokens"/>
          <p:cNvSpPr txBox="1"/>
          <p:nvPr/>
        </p:nvSpPr>
        <p:spPr>
          <a:xfrm>
            <a:off x="9220200" y="3530600"/>
            <a:ext cx="2413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050505"/>
                </a:solidFill>
                <a:latin typeface="JetBrains Mono"/>
                <a:ea typeface="JetBrains Mono"/>
              </a:rPr>
              <a:t>01  GLOWING ACCENTS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050505"/>
                </a:solidFill>
                <a:latin typeface="JetBrains Mono"/>
                <a:ea typeface="JetBrains Mono"/>
              </a:rPr>
              <a:t>02  GLASS SURFACES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050505"/>
                </a:solidFill>
                <a:latin typeface="JetBrains Mono"/>
                <a:ea typeface="JetBrains Mono"/>
              </a:rPr>
              <a:t>03  ANIMATED BACKDROP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050505"/>
                </a:solidFill>
                <a:latin typeface="JetBrains Mono"/>
                <a:ea typeface="JetBrains Mono"/>
              </a:rPr>
              <a:t>04  SUBTLE GLITCH</a:t>
            </a:r>
            <a:endParaRPr lang="en-US" sz="1200" noProof="1"/>
          </a:p>
        </p:txBody>
      </p:sp>
      <p:sp>
        <p:nvSpPr>
          <p:cNvPr id="19" name="glass-demo"/>
          <p:cNvSpPr/>
          <p:nvPr/>
        </p:nvSpPr>
        <p:spPr>
          <a:xfrm>
            <a:off x="9194800" y="5626100"/>
            <a:ext cx="2413000" cy="609600"/>
          </a:xfrm>
          <a:prstGeom prst="rect">
            <a:avLst/>
          </a:prstGeom>
          <a:solidFill>
            <a:srgbClr val="050505">
              <a:alpha val="80000"/>
            </a:srgbClr>
          </a:solidFill>
          <a:ln w="12700">
            <a:solidFill>
              <a:srgbClr val="050555">
                <a:alpha val="33333"/>
              </a:srgbClr>
            </a:solidFill>
          </a:ln>
        </p:spPr>
      </p:sp>
      <p:sp>
        <p:nvSpPr>
          <p:cNvPr id="20" name="glass-text"/>
          <p:cNvSpPr txBox="1"/>
          <p:nvPr/>
        </p:nvSpPr>
        <p:spPr>
          <a:xfrm>
            <a:off x="9398000" y="5778500"/>
            <a:ext cx="2006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DEPTH / NOT CLUTTER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02 / EXPERIENCE MAP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03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779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One page. Six destinations. Zero dead ends.</a:t>
            </a:r>
            <a:endParaRPr lang="en-US" sz="3800" noProof="1"/>
          </a:p>
        </p:txBody>
      </p:sp>
      <p:sp>
        <p:nvSpPr>
          <p:cNvPr id="6" name="nav-shell"/>
          <p:cNvSpPr/>
          <p:nvPr/>
        </p:nvSpPr>
        <p:spPr>
          <a:xfrm>
            <a:off x="609600" y="1841500"/>
            <a:ext cx="10972800" cy="736600"/>
          </a:xfrm>
          <a:prstGeom prst="rect">
            <a:avLst/>
          </a:prstGeom>
          <a:solidFill>
            <a:srgbClr val="0C100E">
              <a:alpha val="80000"/>
            </a:srgbClr>
          </a:solidFill>
          <a:ln w="12700">
            <a:solidFill>
              <a:srgbClr val="26332C"/>
            </a:solidFill>
          </a:ln>
        </p:spPr>
      </p:sp>
      <p:sp>
        <p:nvSpPr>
          <p:cNvPr id="7" name="nav-logo"/>
          <p:cNvSpPr txBox="1"/>
          <p:nvPr/>
        </p:nvSpPr>
        <p:spPr>
          <a:xfrm>
            <a:off x="863600" y="20701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F4F7F5"/>
                </a:solidFill>
                <a:latin typeface="Space Grotesk"/>
                <a:ea typeface="Space Grotesk"/>
              </a:rPr>
              <a:t>HICHCHI H4X</a:t>
            </a:r>
            <a:endParaRPr lang="en-US" sz="1500" noProof="1"/>
          </a:p>
        </p:txBody>
      </p:sp>
      <p:sp>
        <p:nvSpPr>
          <p:cNvPr id="8" name="nav-links"/>
          <p:cNvSpPr txBox="1"/>
          <p:nvPr/>
        </p:nvSpPr>
        <p:spPr>
          <a:xfrm>
            <a:off x="4343400" y="2082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0AFA6"/>
                </a:solidFill>
                <a:latin typeface="JetBrains Mono"/>
                <a:ea typeface="JetBrains Mono"/>
              </a:rPr>
              <a:t>HOME   ABOUT   SKILLS   PROJECTS   CONTACT</a:t>
            </a:r>
            <a:endParaRPr lang="en-US" sz="1000" noProof="1"/>
          </a:p>
        </p:txBody>
      </p:sp>
      <p:sp>
        <p:nvSpPr>
          <p:cNvPr id="9" name="nav-active"/>
          <p:cNvSpPr/>
          <p:nvPr/>
        </p:nvSpPr>
        <p:spPr>
          <a:xfrm>
            <a:off x="10401300" y="2044700"/>
            <a:ext cx="889000" cy="3302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0" name="nav-active-label"/>
          <p:cNvSpPr txBox="1"/>
          <p:nvPr/>
        </p:nvSpPr>
        <p:spPr>
          <a:xfrm>
            <a:off x="10452100" y="21082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050505"/>
                </a:solidFill>
                <a:latin typeface="JetBrains Mono"/>
                <a:ea typeface="JetBrains Mono"/>
              </a:rPr>
              <a:t>MENU  +</a:t>
            </a:r>
            <a:endParaRPr lang="en-US" sz="900" noProof="1"/>
          </a:p>
        </p:txBody>
      </p:sp>
      <p:sp>
        <p:nvSpPr>
          <p:cNvPr id="11" name="map-label"/>
          <p:cNvSpPr txBox="1"/>
          <p:nvPr/>
        </p:nvSpPr>
        <p:spPr>
          <a:xfrm>
            <a:off x="609600" y="2984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SMOOTH-SCROLL JOURNEY</a:t>
            </a:r>
            <a:endParaRPr lang="en-US" sz="900" noProof="1"/>
          </a:p>
        </p:txBody>
      </p:sp>
      <p:sp>
        <p:nvSpPr>
          <p:cNvPr id="12" name="journey-line"/>
          <p:cNvSpPr/>
          <p:nvPr/>
        </p:nvSpPr>
        <p:spPr>
          <a:xfrm>
            <a:off x="1054100" y="3594100"/>
            <a:ext cx="99822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3" name="node1"/>
          <p:cNvSpPr/>
          <p:nvPr/>
        </p:nvSpPr>
        <p:spPr>
          <a:xfrm>
            <a:off x="965200" y="3505200"/>
            <a:ext cx="203200" cy="203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4" name="node2"/>
          <p:cNvSpPr/>
          <p:nvPr/>
        </p:nvSpPr>
        <p:spPr>
          <a:xfrm>
            <a:off x="2921000" y="3505200"/>
            <a:ext cx="203200" cy="20320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00FF88"/>
            </a:solidFill>
          </a:ln>
        </p:spPr>
      </p:sp>
      <p:sp>
        <p:nvSpPr>
          <p:cNvPr id="15" name="node3"/>
          <p:cNvSpPr/>
          <p:nvPr/>
        </p:nvSpPr>
        <p:spPr>
          <a:xfrm>
            <a:off x="4876800" y="3505200"/>
            <a:ext cx="203200" cy="20320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00FF88"/>
            </a:solidFill>
          </a:ln>
        </p:spPr>
      </p:sp>
      <p:sp>
        <p:nvSpPr>
          <p:cNvPr id="16" name="node4"/>
          <p:cNvSpPr/>
          <p:nvPr/>
        </p:nvSpPr>
        <p:spPr>
          <a:xfrm>
            <a:off x="6832600" y="3505200"/>
            <a:ext cx="203200" cy="20320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00FF88"/>
            </a:solidFill>
          </a:ln>
        </p:spPr>
      </p:sp>
      <p:sp>
        <p:nvSpPr>
          <p:cNvPr id="17" name="node5"/>
          <p:cNvSpPr/>
          <p:nvPr/>
        </p:nvSpPr>
        <p:spPr>
          <a:xfrm>
            <a:off x="8788400" y="3505200"/>
            <a:ext cx="203200" cy="20320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00FF88"/>
            </a:solidFill>
          </a:ln>
        </p:spPr>
      </p:sp>
      <p:sp>
        <p:nvSpPr>
          <p:cNvPr id="18" name="node6"/>
          <p:cNvSpPr/>
          <p:nvPr/>
        </p:nvSpPr>
        <p:spPr>
          <a:xfrm>
            <a:off x="10820400" y="3505200"/>
            <a:ext cx="203200" cy="203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9" name="node-labels"/>
          <p:cNvSpPr txBox="1"/>
          <p:nvPr/>
        </p:nvSpPr>
        <p:spPr>
          <a:xfrm>
            <a:off x="609600" y="3911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F4F7F5"/>
                </a:solidFill>
                <a:latin typeface="JetBrains Mono"/>
                <a:ea typeface="JetBrains Mono"/>
              </a:rPr>
              <a:t>01 HOME                 02 ABOUT                03 SKILLS               04 PROJECTS             05 SERVICES             06 CONTACT</a:t>
            </a:r>
            <a:endParaRPr lang="en-US" sz="1000" noProof="1"/>
          </a:p>
        </p:txBody>
      </p:sp>
      <p:sp>
        <p:nvSpPr>
          <p:cNvPr id="20" name="split-rule"/>
          <p:cNvSpPr/>
          <p:nvPr/>
        </p:nvSpPr>
        <p:spPr>
          <a:xfrm>
            <a:off x="7683500" y="4889500"/>
            <a:ext cx="12700" cy="12700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1" name="desktop-title"/>
          <p:cNvSpPr txBox="1"/>
          <p:nvPr/>
        </p:nvSpPr>
        <p:spPr>
          <a:xfrm>
            <a:off x="609600" y="49022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4F7F5"/>
                </a:solidFill>
                <a:latin typeface="Space Grotesk"/>
                <a:ea typeface="Space Grotesk"/>
              </a:rPr>
              <a:t>STICKY + SPATIAL</a:t>
            </a:r>
            <a:endParaRPr lang="en-US" sz="1800" noProof="1"/>
          </a:p>
        </p:txBody>
      </p:sp>
      <p:sp>
        <p:nvSpPr>
          <p:cNvPr id="22" name="desktop-copy"/>
          <p:cNvSpPr txBox="1"/>
          <p:nvPr/>
        </p:nvSpPr>
        <p:spPr>
          <a:xfrm>
            <a:off x="609600" y="53340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The navigation stays available as the page moves. Neon hover states clarify the active target without adding visual noise.</a:t>
            </a:r>
            <a:endParaRPr lang="en-US" sz="1400" noProof="1"/>
          </a:p>
        </p:txBody>
      </p:sp>
      <p:sp>
        <p:nvSpPr>
          <p:cNvPr id="23" name="mobile-title"/>
          <p:cNvSpPr txBox="1"/>
          <p:nvPr/>
        </p:nvSpPr>
        <p:spPr>
          <a:xfrm>
            <a:off x="8089900" y="49022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4F7F5"/>
                </a:solidFill>
                <a:latin typeface="Space Grotesk"/>
                <a:ea typeface="Space Grotesk"/>
              </a:rPr>
              <a:t>MOBILE / HAMBURGER</a:t>
            </a:r>
            <a:endParaRPr lang="en-US" sz="1800" noProof="1"/>
          </a:p>
        </p:txBody>
      </p:sp>
      <p:sp>
        <p:nvSpPr>
          <p:cNvPr id="24" name="mobile-copy"/>
          <p:cNvSpPr txBox="1"/>
          <p:nvPr/>
        </p:nvSpPr>
        <p:spPr>
          <a:xfrm>
            <a:off x="8089900" y="5334000"/>
            <a:ext cx="34925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A compact toggle preserves every link and keeps touch interactions simple.</a:t>
            </a:r>
            <a:endParaRPr lang="en-US" sz="1400" noProof="1"/>
          </a:p>
        </p:txBody>
      </p:sp>
      <p:sp>
        <p:nvSpPr>
          <p:cNvPr id="25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03 / HERO SECTION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04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The first screen establishes identity and action.</a:t>
            </a:r>
            <a:endParaRPr lang="en-US" sz="3800" noProof="1"/>
          </a:p>
        </p:txBody>
      </p:sp>
      <p:sp>
        <p:nvSpPr>
          <p:cNvPr id="6" name="hero-kicker"/>
          <p:cNvSpPr txBox="1"/>
          <p:nvPr/>
        </p:nvSpPr>
        <p:spPr>
          <a:xfrm>
            <a:off x="609600" y="1841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01 / NAME + ROLE</a:t>
            </a:r>
            <a:endParaRPr lang="en-US" sz="900" noProof="1"/>
          </a:p>
        </p:txBody>
      </p:sp>
      <p:sp>
        <p:nvSpPr>
          <p:cNvPr id="7" name="hero-name"/>
          <p:cNvSpPr txBox="1"/>
          <p:nvPr/>
        </p:nvSpPr>
        <p:spPr>
          <a:xfrm>
            <a:off x="609600" y="2209800"/>
            <a:ext cx="66040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 b="1">
                <a:solidFill>
                  <a:srgbClr val="F4F7F5"/>
                </a:solidFill>
                <a:effectLst>
                  <a:outerShdw blurRad="101600" dist="0" dir="0" sx="100000" sy="100000" kx="0" ky="0" algn="bl" rotWithShape="0">
                    <a:srgbClr val="00FF88">
                      <a:alpha val="20000"/>
                    </a:srgbClr>
                  </a:outerShdw>
                </a:effectLst>
                <a:latin typeface="Space Grotesk"/>
                <a:ea typeface="Space Grotesk"/>
              </a:rPr>
              <a:t>HICHCHI H4X</a:t>
            </a:r>
            <a:endParaRPr lang="en-US" sz="4400" noProof="1"/>
          </a:p>
        </p:txBody>
      </p:sp>
      <p:sp>
        <p:nvSpPr>
          <p:cNvPr id="8" name="hero-role"/>
          <p:cNvSpPr txBox="1"/>
          <p:nvPr/>
        </p:nvSpPr>
        <p:spPr>
          <a:xfrm>
            <a:off x="609600" y="3035300"/>
            <a:ext cx="673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00FF88"/>
                </a:solidFill>
                <a:latin typeface="JetBrains Mono"/>
                <a:ea typeface="JetBrains Mono"/>
              </a:rPr>
              <a:t>WEB DEVELOPER | CREATIVE CODER | DIGITAL BUILDER</a:t>
            </a:r>
            <a:endParaRPr lang="en-US" sz="1000" noProof="1"/>
          </a:p>
        </p:txBody>
      </p:sp>
      <p:sp>
        <p:nvSpPr>
          <p:cNvPr id="9" name="hero-intro"/>
          <p:cNvSpPr txBox="1"/>
          <p:nvPr/>
        </p:nvSpPr>
        <p:spPr>
          <a:xfrm>
            <a:off x="609600" y="3543300"/>
            <a:ext cx="596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F4F7F5"/>
                </a:solidFill>
                <a:latin typeface="Space Grotesk"/>
                <a:ea typeface="Space Grotesk"/>
              </a:rPr>
              <a:t>Modern, responsive, interactive websites that bring ideas to life.</a:t>
            </a:r>
            <a:endParaRPr lang="en-US" sz="1500" noProof="1"/>
          </a:p>
        </p:txBody>
      </p:sp>
      <p:sp>
        <p:nvSpPr>
          <p:cNvPr id="10" name="hero-cta1"/>
          <p:cNvSpPr/>
          <p:nvPr/>
        </p:nvSpPr>
        <p:spPr>
          <a:xfrm>
            <a:off x="609600" y="4419600"/>
            <a:ext cx="2235200" cy="533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1" name="hero-cta1-label"/>
          <p:cNvSpPr txBox="1"/>
          <p:nvPr/>
        </p:nvSpPr>
        <p:spPr>
          <a:xfrm>
            <a:off x="736600" y="4546600"/>
            <a:ext cx="198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050505"/>
                </a:solidFill>
                <a:latin typeface="JetBrains Mono"/>
                <a:ea typeface="JetBrains Mono"/>
              </a:rPr>
              <a:t>EXPLORE MY WORK  ↗</a:t>
            </a:r>
            <a:endParaRPr lang="en-US" sz="1000" noProof="1"/>
          </a:p>
        </p:txBody>
      </p:sp>
      <p:sp>
        <p:nvSpPr>
          <p:cNvPr id="12" name="hero-cta2"/>
          <p:cNvSpPr/>
          <p:nvPr/>
        </p:nvSpPr>
        <p:spPr>
          <a:xfrm>
            <a:off x="3009900" y="4419600"/>
            <a:ext cx="1676400" cy="533400"/>
          </a:xfrm>
          <a:prstGeom prst="rect">
            <a:avLst/>
          </a:prstGeom>
          <a:noFill/>
          <a:ln w="12700">
            <a:solidFill>
              <a:srgbClr val="26332C"/>
            </a:solidFill>
          </a:ln>
        </p:spPr>
      </p:sp>
      <p:sp>
        <p:nvSpPr>
          <p:cNvPr id="13" name="hero-cta2-label"/>
          <p:cNvSpPr txBox="1"/>
          <p:nvPr/>
        </p:nvSpPr>
        <p:spPr>
          <a:xfrm>
            <a:off x="3136900" y="4546600"/>
            <a:ext cx="142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F4F7F5"/>
                </a:solidFill>
                <a:latin typeface="JetBrains Mono"/>
                <a:ea typeface="JetBrains Mono"/>
              </a:rPr>
              <a:t>CONTACT ME</a:t>
            </a:r>
            <a:endParaRPr lang="en-US" sz="1000" noProof="1"/>
          </a:p>
        </p:txBody>
      </p:sp>
      <p:sp>
        <p:nvSpPr>
          <p:cNvPr id="14" name="typing-label"/>
          <p:cNvSpPr txBox="1"/>
          <p:nvPr/>
        </p:nvSpPr>
        <p:spPr>
          <a:xfrm>
            <a:off x="609600" y="5384800"/>
            <a:ext cx="6477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02 / TYPING LOOP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Building the Digital Future. → Turning Ideas Into Reality. → Code. Create. Innovate.</a:t>
            </a:r>
            <a:endParaRPr lang="en-US" sz="1100" noProof="1"/>
          </a:p>
        </p:txBody>
      </p:sp>
      <p:sp>
        <p:nvSpPr>
          <p:cNvPr id="15" name="terminal"/>
          <p:cNvSpPr/>
          <p:nvPr/>
        </p:nvSpPr>
        <p:spPr>
          <a:xfrm>
            <a:off x="7810500" y="1841500"/>
            <a:ext cx="3771900" cy="3619500"/>
          </a:xfrm>
          <a:prstGeom prst="rect">
            <a:avLst/>
          </a:prstGeom>
          <a:solidFill>
            <a:srgbClr val="0C100E">
              <a:alpha val="86667"/>
            </a:srgbClr>
          </a:solidFill>
          <a:ln w="12700">
            <a:solidFill>
              <a:srgbClr val="00FF88">
                <a:alpha val="33333"/>
              </a:srgbClr>
            </a:solidFill>
          </a:ln>
          <a:effectLst>
            <a:outerShdw blurRad="203200" dist="0" dir="0" sx="100000" sy="100000" kx="0" ky="0" algn="bl" rotWithShape="0">
              <a:srgbClr val="00FF88">
                <a:alpha val="10196"/>
              </a:srgbClr>
            </a:outerShdw>
          </a:effectLst>
        </p:spPr>
      </p:sp>
      <p:sp>
        <p:nvSpPr>
          <p:cNvPr id="16" name="terminal-head"/>
          <p:cNvSpPr/>
          <p:nvPr/>
        </p:nvSpPr>
        <p:spPr>
          <a:xfrm>
            <a:off x="7810500" y="1841500"/>
            <a:ext cx="3771900" cy="431800"/>
          </a:xfrm>
          <a:prstGeom prst="rect">
            <a:avLst/>
          </a:prstGeom>
          <a:solidFill>
            <a:srgbClr val="121816"/>
          </a:solidFill>
          <a:ln>
            <a:noFill/>
          </a:ln>
        </p:spPr>
      </p:sp>
      <p:sp>
        <p:nvSpPr>
          <p:cNvPr id="17" name="terminal-title"/>
          <p:cNvSpPr txBox="1"/>
          <p:nvPr/>
        </p:nvSpPr>
        <p:spPr>
          <a:xfrm>
            <a:off x="8064500" y="19558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&gt; live_preview — bash</a:t>
            </a:r>
            <a:endParaRPr lang="en-US" sz="900" noProof="1"/>
          </a:p>
        </p:txBody>
      </p:sp>
      <p:sp>
        <p:nvSpPr>
          <p:cNvPr id="18" name="terminal-code"/>
          <p:cNvSpPr txBox="1"/>
          <p:nvPr/>
        </p:nvSpPr>
        <p:spPr>
          <a:xfrm>
            <a:off x="8089900" y="2552700"/>
            <a:ext cx="31750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$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init portfolio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loading interface...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✓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responsive layout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✓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smooth interactions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✓</a:t>
            </a:r>
            <a:r>
              <a:rPr lang="en-US" sz="1100" noProof="1">
                <a:solidFill>
                  <a:srgbClr val="A0AFA6"/>
                </a:solidFill>
                <a:latin typeface="JetBrains Mono"/>
                <a:ea typeface="JetBrains Mono"/>
              </a:rPr>
              <a:t> accessible controls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100" noProof="1">
                <a:solidFill>
                  <a:srgbClr val="F4F7F5"/>
                </a:solidFill>
                <a:latin typeface="JetBrains Mono"/>
                <a:ea typeface="JetBrains Mono"/>
              </a:rPr>
              <a:t>READY TO CREATE_</a:t>
            </a:r>
            <a:endParaRPr lang="en-US" sz="1100" noProof="1"/>
          </a:p>
        </p:txBody>
      </p:sp>
      <p:sp>
        <p:nvSpPr>
          <p:cNvPr id="19" name="terminal-divider"/>
          <p:cNvSpPr/>
          <p:nvPr/>
        </p:nvSpPr>
        <p:spPr>
          <a:xfrm>
            <a:off x="8089900" y="4686300"/>
            <a:ext cx="3175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0" name="terminal-caption"/>
          <p:cNvSpPr txBox="1"/>
          <p:nvPr/>
        </p:nvSpPr>
        <p:spPr>
          <a:xfrm>
            <a:off x="8089900" y="4889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03 / TERMINAL VISUAL
04 / SUBTLE GLITCH ON NAME</a:t>
            </a:r>
            <a:endParaRPr lang="en-US" sz="900" noProof="1"/>
          </a:p>
        </p:txBody>
      </p:sp>
      <p:sp>
        <p:nvSpPr>
          <p:cNvPr id="21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04 / ABOUT + SKILLS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05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525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Personal story. Editable capability.</a:t>
            </a:r>
            <a:endParaRPr lang="en-US" sz="3800" noProof="1"/>
          </a:p>
        </p:txBody>
      </p:sp>
      <p:sp>
        <p:nvSpPr>
          <p:cNvPr id="6" name="avatar-ring"/>
          <p:cNvSpPr/>
          <p:nvPr/>
        </p:nvSpPr>
        <p:spPr>
          <a:xfrm>
            <a:off x="609600" y="1917700"/>
            <a:ext cx="1371600" cy="1371600"/>
          </a:xfrm>
          <a:prstGeom prst="ellipse">
            <a:avLst/>
          </a:prstGeom>
          <a:solidFill>
            <a:srgbClr val="0C100E"/>
          </a:solidFill>
          <a:ln w="12700">
            <a:solidFill>
              <a:srgbClr val="00FF88"/>
            </a:solidFill>
            <a:prstDash val="dash"/>
          </a:ln>
        </p:spPr>
      </p:sp>
      <p:sp>
        <p:nvSpPr>
          <p:cNvPr id="7" name="avatar-icon"/>
          <p:cNvSpPr/>
          <p:nvPr>
            <p:extLst>
              <p:ext uri="{F5677B7D-0D2A-4D9B-9A5C-6D8D7D0E5A5D}">
                <pptd:icon encoding="base64url">eyJpY29uTmFtZSI6ImZhczp1c2VyLWFzdHJvbmF1dCJ9</pptd:icon>
              </p:ext>
            </p:extLst>
          </p:nvPr>
        </p:nvSpPr>
        <p:spPr>
          <a:xfrm>
            <a:off x="1003300" y="2273300"/>
            <a:ext cx="584200" cy="660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336"/>
                </a:moveTo>
                <a:cubicBezTo>
                  <a:pt x="299" y="336"/>
                  <a:pt x="362" y="290"/>
                  <a:pt x="388" y="224"/>
                </a:cubicBezTo>
                <a:lnTo>
                  <a:pt x="392" y="224"/>
                </a:lnTo>
                <a:cubicBezTo>
                  <a:pt x="405" y="224"/>
                  <a:pt x="416" y="213"/>
                  <a:pt x="416" y="200"/>
                </a:cubicBezTo>
                <a:lnTo>
                  <a:pt x="416" y="120"/>
                </a:lnTo>
                <a:cubicBezTo>
                  <a:pt x="416" y="107"/>
                  <a:pt x="405" y="96"/>
                  <a:pt x="392" y="96"/>
                </a:cubicBezTo>
                <a:lnTo>
                  <a:pt x="388" y="96"/>
                </a:lnTo>
                <a:cubicBezTo>
                  <a:pt x="362" y="30"/>
                  <a:pt x="299" y="-16"/>
                  <a:pt x="224" y="-16"/>
                </a:cubicBezTo>
                <a:cubicBezTo>
                  <a:pt x="149" y="-16"/>
                  <a:pt x="86" y="30"/>
                  <a:pt x="60" y="96"/>
                </a:cubicBezTo>
                <a:lnTo>
                  <a:pt x="56" y="96"/>
                </a:lnTo>
                <a:cubicBezTo>
                  <a:pt x="43" y="96"/>
                  <a:pt x="32" y="107"/>
                  <a:pt x="32" y="120"/>
                </a:cubicBezTo>
                <a:lnTo>
                  <a:pt x="32" y="200"/>
                </a:lnTo>
                <a:cubicBezTo>
                  <a:pt x="32" y="213"/>
                  <a:pt x="43" y="224"/>
                  <a:pt x="56" y="224"/>
                </a:cubicBezTo>
                <a:lnTo>
                  <a:pt x="60" y="224"/>
                </a:lnTo>
                <a:cubicBezTo>
                  <a:pt x="86" y="290"/>
                  <a:pt x="149" y="336"/>
                  <a:pt x="224" y="336"/>
                </a:cubicBezTo>
                <a:close/>
                <a:moveTo>
                  <a:pt x="208" y="80"/>
                </a:moveTo>
                <a:lnTo>
                  <a:pt x="240" y="80"/>
                </a:lnTo>
                <a:cubicBezTo>
                  <a:pt x="293" y="80"/>
                  <a:pt x="336" y="123"/>
                  <a:pt x="336" y="176"/>
                </a:cubicBezTo>
                <a:cubicBezTo>
                  <a:pt x="336" y="229"/>
                  <a:pt x="293" y="272"/>
                  <a:pt x="240" y="272"/>
                </a:cubicBezTo>
                <a:lnTo>
                  <a:pt x="208" y="272"/>
                </a:lnTo>
                <a:cubicBezTo>
                  <a:pt x="155" y="272"/>
                  <a:pt x="112" y="229"/>
                  <a:pt x="112" y="176"/>
                </a:cubicBezTo>
                <a:cubicBezTo>
                  <a:pt x="112" y="123"/>
                  <a:pt x="155" y="80"/>
                  <a:pt x="208" y="80"/>
                </a:cubicBezTo>
                <a:close/>
              </a:path>
              <a:path w="448" h="512">
                <a:moveTo>
                  <a:pt x="16" y="485"/>
                </a:moveTo>
                <a:cubicBezTo>
                  <a:pt x="16" y="500"/>
                  <a:pt x="28" y="512"/>
                  <a:pt x="43" y="512"/>
                </a:cubicBezTo>
                <a:lnTo>
                  <a:pt x="96" y="512"/>
                </a:lnTo>
                <a:lnTo>
                  <a:pt x="96" y="464"/>
                </a:lnTo>
                <a:cubicBezTo>
                  <a:pt x="96" y="446"/>
                  <a:pt x="110" y="432"/>
                  <a:pt x="128" y="432"/>
                </a:cubicBezTo>
                <a:lnTo>
                  <a:pt x="320" y="432"/>
                </a:lnTo>
                <a:cubicBezTo>
                  <a:pt x="338" y="432"/>
                  <a:pt x="352" y="446"/>
                  <a:pt x="352" y="464"/>
                </a:cubicBezTo>
                <a:lnTo>
                  <a:pt x="352" y="512"/>
                </a:lnTo>
                <a:lnTo>
                  <a:pt x="405" y="512"/>
                </a:lnTo>
                <a:cubicBezTo>
                  <a:pt x="420" y="512"/>
                  <a:pt x="432" y="500"/>
                  <a:pt x="432" y="485"/>
                </a:cubicBezTo>
                <a:cubicBezTo>
                  <a:pt x="432" y="425"/>
                  <a:pt x="400" y="372"/>
                  <a:pt x="352" y="344"/>
                </a:cubicBezTo>
                <a:cubicBezTo>
                  <a:pt x="316" y="369"/>
                  <a:pt x="272" y="384"/>
                  <a:pt x="224" y="384"/>
                </a:cubicBezTo>
                <a:cubicBezTo>
                  <a:pt x="176" y="384"/>
                  <a:pt x="132" y="369"/>
                  <a:pt x="96" y="344"/>
                </a:cubicBezTo>
                <a:cubicBezTo>
                  <a:pt x="48" y="372"/>
                  <a:pt x="16" y="425"/>
                  <a:pt x="16" y="485"/>
                </a:cubicBezTo>
                <a:close/>
              </a:path>
              <a:path w="448" h="512">
                <a:moveTo>
                  <a:pt x="183" y="142"/>
                </a:moveTo>
                <a:cubicBezTo>
                  <a:pt x="182" y="138"/>
                  <a:pt x="179" y="136"/>
                  <a:pt x="176" y="136"/>
                </a:cubicBezTo>
                <a:cubicBezTo>
                  <a:pt x="173" y="136"/>
                  <a:pt x="170" y="138"/>
                  <a:pt x="169" y="142"/>
                </a:cubicBezTo>
                <a:lnTo>
                  <a:pt x="163" y="163"/>
                </a:lnTo>
                <a:lnTo>
                  <a:pt x="142" y="169"/>
                </a:lnTo>
                <a:cubicBezTo>
                  <a:pt x="138" y="170"/>
                  <a:pt x="136" y="173"/>
                  <a:pt x="136" y="176"/>
                </a:cubicBezTo>
                <a:cubicBezTo>
                  <a:pt x="136" y="179"/>
                  <a:pt x="138" y="182"/>
                  <a:pt x="142" y="183"/>
                </a:cubicBezTo>
                <a:lnTo>
                  <a:pt x="163" y="189"/>
                </a:lnTo>
                <a:lnTo>
                  <a:pt x="169" y="211"/>
                </a:lnTo>
                <a:cubicBezTo>
                  <a:pt x="170" y="214"/>
                  <a:pt x="173" y="216"/>
                  <a:pt x="176" y="216"/>
                </a:cubicBezTo>
                <a:cubicBezTo>
                  <a:pt x="179" y="216"/>
                  <a:pt x="182" y="214"/>
                  <a:pt x="183" y="211"/>
                </a:cubicBezTo>
                <a:lnTo>
                  <a:pt x="189" y="189"/>
                </a:lnTo>
                <a:lnTo>
                  <a:pt x="211" y="183"/>
                </a:lnTo>
                <a:cubicBezTo>
                  <a:pt x="214" y="182"/>
                  <a:pt x="216" y="179"/>
                  <a:pt x="216" y="176"/>
                </a:cubicBezTo>
                <a:cubicBezTo>
                  <a:pt x="216" y="173"/>
                  <a:pt x="214" y="170"/>
                  <a:pt x="211" y="169"/>
                </a:cubicBezTo>
                <a:lnTo>
                  <a:pt x="189" y="163"/>
                </a:lnTo>
                <a:lnTo>
                  <a:pt x="183" y="142"/>
                </a:lnTo>
                <a:close/>
              </a:path>
              <a:path w="448" h="512">
                <a:moveTo>
                  <a:pt x="152" y="488"/>
                </a:moveTo>
                <a:lnTo>
                  <a:pt x="152" y="512"/>
                </a:lnTo>
                <a:lnTo>
                  <a:pt x="200" y="512"/>
                </a:lnTo>
                <a:lnTo>
                  <a:pt x="200" y="488"/>
                </a:lnTo>
                <a:cubicBezTo>
                  <a:pt x="200" y="475"/>
                  <a:pt x="189" y="464"/>
                  <a:pt x="176" y="464"/>
                </a:cubicBezTo>
                <a:cubicBezTo>
                  <a:pt x="163" y="464"/>
                  <a:pt x="152" y="475"/>
                  <a:pt x="152" y="488"/>
                </a:cubicBezTo>
                <a:close/>
              </a:path>
              <a:path w="448" h="512">
                <a:moveTo>
                  <a:pt x="272" y="464"/>
                </a:moveTo>
                <a:cubicBezTo>
                  <a:pt x="259" y="464"/>
                  <a:pt x="248" y="475"/>
                  <a:pt x="248" y="488"/>
                </a:cubicBezTo>
                <a:lnTo>
                  <a:pt x="248" y="512"/>
                </a:lnTo>
                <a:lnTo>
                  <a:pt x="296" y="512"/>
                </a:lnTo>
                <a:lnTo>
                  <a:pt x="296" y="488"/>
                </a:lnTo>
                <a:cubicBezTo>
                  <a:pt x="296" y="475"/>
                  <a:pt x="285" y="464"/>
                  <a:pt x="272" y="464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8" name="avatar-caption"/>
          <p:cNvSpPr txBox="1"/>
          <p:nvPr/>
        </p:nvSpPr>
        <p:spPr>
          <a:xfrm>
            <a:off x="609600" y="3429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REPLACEABLE AVATAR</a:t>
            </a:r>
            <a:endParaRPr lang="en-US" sz="800" noProof="1"/>
          </a:p>
        </p:txBody>
      </p:sp>
      <p:sp>
        <p:nvSpPr>
          <p:cNvPr id="9" name="who"/>
          <p:cNvSpPr txBox="1"/>
          <p:nvPr/>
        </p:nvSpPr>
        <p:spPr>
          <a:xfrm>
            <a:off x="2603500" y="1917700"/>
            <a:ext cx="2984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4F7F5"/>
                </a:solidFill>
                <a:latin typeface="Space Grotesk"/>
                <a:ea typeface="Space Grotesk"/>
              </a:rPr>
              <a:t>WHO AM I?</a:t>
            </a:r>
            <a:endParaRPr lang="en-US" sz="2400" noProof="1"/>
          </a:p>
        </p:txBody>
      </p:sp>
      <p:sp>
        <p:nvSpPr>
          <p:cNvPr id="10" name="bio"/>
          <p:cNvSpPr txBox="1"/>
          <p:nvPr/>
        </p:nvSpPr>
        <p:spPr>
          <a:xfrm>
            <a:off x="2603500" y="2514600"/>
            <a:ext cx="3175000" cy="261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I'm HICHCHI H4X, a passionate web developer who loves turning creative ideas into digital experiences. I focus on clean, responsive, modern websites with engaging interfaces and smooth interactions. I'm always learning new technologies and improving my coding skills.</a:t>
            </a:r>
            <a:endParaRPr lang="en-US" sz="1400" noProof="1"/>
          </a:p>
        </p:txBody>
      </p:sp>
      <p:sp>
        <p:nvSpPr>
          <p:cNvPr id="11" name="about-rule"/>
          <p:cNvSpPr/>
          <p:nvPr/>
        </p:nvSpPr>
        <p:spPr>
          <a:xfrm>
            <a:off x="609600" y="5486400"/>
            <a:ext cx="51689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2" name="about-note"/>
          <p:cNvSpPr txBox="1"/>
          <p:nvPr/>
        </p:nvSpPr>
        <p:spPr>
          <a:xfrm>
            <a:off x="609600" y="5689600"/>
            <a:ext cx="51689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PROFILE IMAGE / PLACEHOLDER UNTIL A PERSONAL PHOTO IS SUPPLIED</a:t>
            </a:r>
            <a:endParaRPr lang="en-US" sz="900" noProof="1"/>
          </a:p>
        </p:txBody>
      </p:sp>
      <p:sp>
        <p:nvSpPr>
          <p:cNvPr id="13" name="vertical-rule"/>
          <p:cNvSpPr/>
          <p:nvPr/>
        </p:nvSpPr>
        <p:spPr>
          <a:xfrm>
            <a:off x="6096000" y="1841500"/>
            <a:ext cx="12700" cy="43180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4" name="skills-label"/>
          <p:cNvSpPr txBox="1"/>
          <p:nvPr/>
        </p:nvSpPr>
        <p:spPr>
          <a:xfrm>
            <a:off x="6540500" y="18415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ANIMATED SKILL GRID / LEVELS CONFIGURABLE</a:t>
            </a:r>
            <a:endParaRPr lang="en-US" sz="900" noProof="1"/>
          </a:p>
        </p:txBody>
      </p:sp>
      <p:sp>
        <p:nvSpPr>
          <p:cNvPr id="15" name="skill1"/>
          <p:cNvSpPr txBox="1"/>
          <p:nvPr/>
        </p:nvSpPr>
        <p:spPr>
          <a:xfrm>
            <a:off x="6540500" y="23241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HTML5</a:t>
            </a:r>
            <a:endParaRPr lang="en-US" sz="1700" noProof="1"/>
          </a:p>
        </p:txBody>
      </p:sp>
      <p:sp>
        <p:nvSpPr>
          <p:cNvPr id="16" name="skill1-tag"/>
          <p:cNvSpPr txBox="1"/>
          <p:nvPr/>
        </p:nvSpPr>
        <p:spPr>
          <a:xfrm>
            <a:off x="9779000" y="23749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STRUCTURE</a:t>
            </a:r>
            <a:endParaRPr lang="en-US" sz="800" noProof="1"/>
          </a:p>
        </p:txBody>
      </p:sp>
      <p:sp>
        <p:nvSpPr>
          <p:cNvPr id="17" name="skill1-line"/>
          <p:cNvSpPr/>
          <p:nvPr/>
        </p:nvSpPr>
        <p:spPr>
          <a:xfrm>
            <a:off x="6540500" y="27305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8" name="skill1-accent"/>
          <p:cNvSpPr/>
          <p:nvPr/>
        </p:nvSpPr>
        <p:spPr>
          <a:xfrm>
            <a:off x="6540500" y="27305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9" name="skill2"/>
          <p:cNvSpPr txBox="1"/>
          <p:nvPr/>
        </p:nvSpPr>
        <p:spPr>
          <a:xfrm>
            <a:off x="6540500" y="2946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CSS3</a:t>
            </a:r>
            <a:endParaRPr lang="en-US" sz="1700" noProof="1"/>
          </a:p>
        </p:txBody>
      </p:sp>
      <p:sp>
        <p:nvSpPr>
          <p:cNvPr id="20" name="skill2-tag"/>
          <p:cNvSpPr txBox="1"/>
          <p:nvPr/>
        </p:nvSpPr>
        <p:spPr>
          <a:xfrm>
            <a:off x="9779000" y="2997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STYLE + MOTION</a:t>
            </a:r>
            <a:endParaRPr lang="en-US" sz="800" noProof="1"/>
          </a:p>
        </p:txBody>
      </p:sp>
      <p:sp>
        <p:nvSpPr>
          <p:cNvPr id="21" name="skill2-line"/>
          <p:cNvSpPr/>
          <p:nvPr/>
        </p:nvSpPr>
        <p:spPr>
          <a:xfrm>
            <a:off x="6540500" y="33528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2" name="skill2-accent"/>
          <p:cNvSpPr/>
          <p:nvPr/>
        </p:nvSpPr>
        <p:spPr>
          <a:xfrm>
            <a:off x="6540500" y="33528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23" name="skill3"/>
          <p:cNvSpPr txBox="1"/>
          <p:nvPr/>
        </p:nvSpPr>
        <p:spPr>
          <a:xfrm>
            <a:off x="6540500" y="35687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JAVASCRIPT</a:t>
            </a:r>
            <a:endParaRPr lang="en-US" sz="1700" noProof="1"/>
          </a:p>
        </p:txBody>
      </p:sp>
      <p:sp>
        <p:nvSpPr>
          <p:cNvPr id="24" name="skill3-tag"/>
          <p:cNvSpPr txBox="1"/>
          <p:nvPr/>
        </p:nvSpPr>
        <p:spPr>
          <a:xfrm>
            <a:off x="9779000" y="36195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INTERACTION</a:t>
            </a:r>
            <a:endParaRPr lang="en-US" sz="800" noProof="1"/>
          </a:p>
        </p:txBody>
      </p:sp>
      <p:sp>
        <p:nvSpPr>
          <p:cNvPr id="25" name="skill3-line"/>
          <p:cNvSpPr/>
          <p:nvPr/>
        </p:nvSpPr>
        <p:spPr>
          <a:xfrm>
            <a:off x="6540500" y="39751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6" name="skill3-accent"/>
          <p:cNvSpPr/>
          <p:nvPr/>
        </p:nvSpPr>
        <p:spPr>
          <a:xfrm>
            <a:off x="6540500" y="39751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27" name="skill4"/>
          <p:cNvSpPr txBox="1"/>
          <p:nvPr/>
        </p:nvSpPr>
        <p:spPr>
          <a:xfrm>
            <a:off x="6540500" y="41910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RESPONSIVE WEB DESIGN</a:t>
            </a:r>
            <a:endParaRPr lang="en-US" sz="1700" noProof="1"/>
          </a:p>
        </p:txBody>
      </p:sp>
      <p:sp>
        <p:nvSpPr>
          <p:cNvPr id="28" name="skill4-line"/>
          <p:cNvSpPr/>
          <p:nvPr/>
        </p:nvSpPr>
        <p:spPr>
          <a:xfrm>
            <a:off x="6540500" y="45974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9" name="skill4-accent"/>
          <p:cNvSpPr/>
          <p:nvPr/>
        </p:nvSpPr>
        <p:spPr>
          <a:xfrm>
            <a:off x="6540500" y="45974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0" name="skill5"/>
          <p:cNvSpPr txBox="1"/>
          <p:nvPr/>
        </p:nvSpPr>
        <p:spPr>
          <a:xfrm>
            <a:off x="6540500" y="48133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UI/UX DESIGN</a:t>
            </a:r>
            <a:endParaRPr lang="en-US" sz="1700" noProof="1"/>
          </a:p>
        </p:txBody>
      </p:sp>
      <p:sp>
        <p:nvSpPr>
          <p:cNvPr id="31" name="skill5-tag"/>
          <p:cNvSpPr txBox="1"/>
          <p:nvPr/>
        </p:nvSpPr>
        <p:spPr>
          <a:xfrm>
            <a:off x="9779000" y="48641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EXPERIENCE</a:t>
            </a:r>
            <a:endParaRPr lang="en-US" sz="800" noProof="1"/>
          </a:p>
        </p:txBody>
      </p:sp>
      <p:sp>
        <p:nvSpPr>
          <p:cNvPr id="32" name="skill5-line"/>
          <p:cNvSpPr/>
          <p:nvPr/>
        </p:nvSpPr>
        <p:spPr>
          <a:xfrm>
            <a:off x="6540500" y="52197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33" name="skill5-accent"/>
          <p:cNvSpPr/>
          <p:nvPr/>
        </p:nvSpPr>
        <p:spPr>
          <a:xfrm>
            <a:off x="6540500" y="52197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4" name="skill6"/>
          <p:cNvSpPr txBox="1"/>
          <p:nvPr/>
        </p:nvSpPr>
        <p:spPr>
          <a:xfrm>
            <a:off x="6540500" y="5435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4F7F5"/>
                </a:solidFill>
                <a:latin typeface="Space Grotesk"/>
                <a:ea typeface="Space Grotesk"/>
              </a:rPr>
              <a:t>GIT &amp; GITHUB</a:t>
            </a:r>
            <a:endParaRPr lang="en-US" sz="1700" noProof="1"/>
          </a:p>
        </p:txBody>
      </p:sp>
      <p:sp>
        <p:nvSpPr>
          <p:cNvPr id="35" name="skill6-tag"/>
          <p:cNvSpPr txBox="1"/>
          <p:nvPr/>
        </p:nvSpPr>
        <p:spPr>
          <a:xfrm>
            <a:off x="9779000" y="54864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WORKFLOW</a:t>
            </a:r>
            <a:endParaRPr lang="en-US" sz="800" noProof="1"/>
          </a:p>
        </p:txBody>
      </p:sp>
      <p:sp>
        <p:nvSpPr>
          <p:cNvPr id="36" name="skill6-line"/>
          <p:cNvSpPr/>
          <p:nvPr/>
        </p:nvSpPr>
        <p:spPr>
          <a:xfrm>
            <a:off x="6540500" y="5842000"/>
            <a:ext cx="5016500" cy="254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37" name="skill6-accent"/>
          <p:cNvSpPr/>
          <p:nvPr/>
        </p:nvSpPr>
        <p:spPr>
          <a:xfrm>
            <a:off x="6540500" y="5842000"/>
            <a:ext cx="7620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8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05 / PROJECT SHOWCASE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06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939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Three sample builds. Ready for real URLs.</a:t>
            </a:r>
            <a:endParaRPr lang="en-US" sz="3800" noProof="1"/>
          </a:p>
        </p:txBody>
      </p:sp>
      <p:sp>
        <p:nvSpPr>
          <p:cNvPr id="6" name="title-note"/>
          <p:cNvSpPr txBox="1"/>
          <p:nvPr/>
        </p:nvSpPr>
        <p:spPr>
          <a:xfrm>
            <a:off x="609600" y="1549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PLACEHOLDERS / NO INVENTED RESULTS</a:t>
            </a:r>
            <a:endParaRPr lang="en-US" sz="900" noProof="1"/>
          </a:p>
        </p:txBody>
      </p:sp>
      <p:sp>
        <p:nvSpPr>
          <p:cNvPr id="7" name="main-card"/>
          <p:cNvSpPr/>
          <p:nvPr/>
        </p:nvSpPr>
        <p:spPr>
          <a:xfrm>
            <a:off x="609600" y="1816100"/>
            <a:ext cx="5143500" cy="4203700"/>
          </a:xfrm>
          <a:prstGeom prst="rect">
            <a:avLst/>
          </a:prstGeom>
          <a:solidFill>
            <a:srgbClr val="0C100E"/>
          </a:solidFill>
          <a:ln w="12700">
            <a:solidFill>
              <a:srgbClr val="26332C"/>
            </a:solidFill>
          </a:ln>
        </p:spPr>
      </p:sp>
      <p:sp>
        <p:nvSpPr>
          <p:cNvPr id="8" name="main-thumb"/>
          <p:cNvSpPr/>
          <p:nvPr/>
        </p:nvSpPr>
        <p:spPr>
          <a:xfrm>
            <a:off x="609600" y="1816100"/>
            <a:ext cx="5143500" cy="1422400"/>
          </a:xfrm>
          <a:prstGeom prst="rect">
            <a:avLst/>
          </a:prstGeom>
          <a:solidFill>
            <a:srgbClr val="00FF88">
              <a:alpha val="4314"/>
            </a:srgbClr>
          </a:solidFill>
          <a:ln>
            <a:noFill/>
          </a:ln>
        </p:spPr>
      </p:sp>
      <p:sp>
        <p:nvSpPr>
          <p:cNvPr id="9" name="thumb-browser"/>
          <p:cNvSpPr/>
          <p:nvPr/>
        </p:nvSpPr>
        <p:spPr>
          <a:xfrm>
            <a:off x="1066800" y="2095500"/>
            <a:ext cx="4191000" cy="86360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F88">
                <a:alpha val="33333"/>
              </a:srgbClr>
            </a:solidFill>
          </a:ln>
        </p:spPr>
      </p:sp>
      <p:sp>
        <p:nvSpPr>
          <p:cNvPr id="10" name="thumb-line1"/>
          <p:cNvSpPr/>
          <p:nvPr/>
        </p:nvSpPr>
        <p:spPr>
          <a:xfrm>
            <a:off x="1308100" y="2349500"/>
            <a:ext cx="1524000" cy="635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1" name="thumb-line2"/>
          <p:cNvSpPr/>
          <p:nvPr/>
        </p:nvSpPr>
        <p:spPr>
          <a:xfrm>
            <a:off x="1308100" y="2552700"/>
            <a:ext cx="2413000" cy="50800"/>
          </a:xfrm>
          <a:prstGeom prst="rect">
            <a:avLst/>
          </a:prstGeom>
          <a:solidFill>
            <a:srgbClr val="617068"/>
          </a:solidFill>
          <a:ln>
            <a:noFill/>
          </a:ln>
        </p:spPr>
      </p:sp>
      <p:sp>
        <p:nvSpPr>
          <p:cNvPr id="12" name="thumb-button"/>
          <p:cNvSpPr/>
          <p:nvPr/>
        </p:nvSpPr>
        <p:spPr>
          <a:xfrm>
            <a:off x="4140200" y="2336800"/>
            <a:ext cx="787400" cy="3175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3" name="main-index"/>
          <p:cNvSpPr txBox="1"/>
          <p:nvPr/>
        </p:nvSpPr>
        <p:spPr>
          <a:xfrm>
            <a:off x="889000" y="35052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01</a:t>
            </a:r>
            <a:endParaRPr lang="en-US" sz="1000" noProof="1"/>
          </a:p>
        </p:txBody>
      </p:sp>
      <p:sp>
        <p:nvSpPr>
          <p:cNvPr id="14" name="main-title"/>
          <p:cNvSpPr txBox="1"/>
          <p:nvPr/>
        </p:nvSpPr>
        <p:spPr>
          <a:xfrm>
            <a:off x="889000" y="3860800"/>
            <a:ext cx="431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F4F7F5"/>
                </a:solidFill>
                <a:latin typeface="Space Grotesk"/>
                <a:ea typeface="Space Grotesk"/>
              </a:rPr>
              <a:t>Portfolio Website</a:t>
            </a:r>
            <a:endParaRPr lang="en-US" sz="2300" noProof="1"/>
          </a:p>
        </p:txBody>
      </p:sp>
      <p:sp>
        <p:nvSpPr>
          <p:cNvPr id="15" name="main-desc"/>
          <p:cNvSpPr txBox="1"/>
          <p:nvPr/>
        </p:nvSpPr>
        <p:spPr>
          <a:xfrm>
            <a:off x="889000" y="43815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A0AFA6"/>
                </a:solidFill>
                <a:latin typeface="Space Grotesk"/>
                <a:ea typeface="Space Grotesk"/>
              </a:rPr>
              <a:t>A creative personal portfolio.</a:t>
            </a:r>
            <a:endParaRPr lang="en-US" sz="1300" noProof="1"/>
          </a:p>
        </p:txBody>
      </p:sp>
      <p:sp>
        <p:nvSpPr>
          <p:cNvPr id="16" name="main-tags"/>
          <p:cNvSpPr txBox="1"/>
          <p:nvPr/>
        </p:nvSpPr>
        <p:spPr>
          <a:xfrm>
            <a:off x="889000" y="48641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HTML5   CSS3   JAVASCRIPT</a:t>
            </a:r>
            <a:endParaRPr lang="en-US" sz="900" noProof="1"/>
          </a:p>
        </p:txBody>
      </p:sp>
      <p:sp>
        <p:nvSpPr>
          <p:cNvPr id="17" name="main-rule"/>
          <p:cNvSpPr/>
          <p:nvPr/>
        </p:nvSpPr>
        <p:spPr>
          <a:xfrm>
            <a:off x="889000" y="5308600"/>
            <a:ext cx="4318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8" name="main-links"/>
          <p:cNvSpPr txBox="1"/>
          <p:nvPr/>
        </p:nvSpPr>
        <p:spPr>
          <a:xfrm>
            <a:off x="889000" y="55245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F4F7F5"/>
                </a:solidFill>
                <a:latin typeface="JetBrains Mono"/>
                <a:ea typeface="JetBrains Mono"/>
              </a:rPr>
              <a:t>LIVE DEMO  ↗          SOURCE CODE  &lt;/&gt;</a:t>
            </a:r>
            <a:endParaRPr lang="en-US" sz="1000" noProof="1"/>
          </a:p>
        </p:txBody>
      </p:sp>
      <p:sp>
        <p:nvSpPr>
          <p:cNvPr id="19" name="side-card1"/>
          <p:cNvSpPr/>
          <p:nvPr/>
        </p:nvSpPr>
        <p:spPr>
          <a:xfrm>
            <a:off x="6159500" y="1816100"/>
            <a:ext cx="5422900" cy="1905000"/>
          </a:xfrm>
          <a:prstGeom prst="rect">
            <a:avLst/>
          </a:prstGeom>
          <a:solidFill>
            <a:srgbClr val="0C100E"/>
          </a:solidFill>
          <a:ln w="12700">
            <a:solidFill>
              <a:srgbClr val="26332C"/>
            </a:solidFill>
          </a:ln>
        </p:spPr>
      </p:sp>
      <p:sp>
        <p:nvSpPr>
          <p:cNvPr id="20" name="side-thumb1"/>
          <p:cNvSpPr/>
          <p:nvPr/>
        </p:nvSpPr>
        <p:spPr>
          <a:xfrm>
            <a:off x="6159500" y="1816100"/>
            <a:ext cx="1473200" cy="1905000"/>
          </a:xfrm>
          <a:prstGeom prst="rect">
            <a:avLst/>
          </a:prstGeom>
          <a:solidFill>
            <a:srgbClr val="00FF88">
              <a:alpha val="4314"/>
            </a:srgbClr>
          </a:solidFill>
          <a:ln>
            <a:noFill/>
          </a:ln>
        </p:spPr>
      </p:sp>
      <p:sp>
        <p:nvSpPr>
          <p:cNvPr id="21" name="side-icon1"/>
          <p:cNvSpPr/>
          <p:nvPr>
            <p:extLst>
              <p:ext uri="{F5677B7D-0D2A-4D9B-9A5C-6D8D7D0E5A5D}">
                <pptd:icon encoding="base64url">eyJpY29uTmFtZSI6ImZhczpyb2NrZXQifQ</pptd:icon>
              </p:ext>
            </p:extLst>
          </p:nvPr>
        </p:nvSpPr>
        <p:spPr>
          <a:xfrm>
            <a:off x="6654800" y="24257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2" name="side-title1"/>
          <p:cNvSpPr txBox="1"/>
          <p:nvPr/>
        </p:nvSpPr>
        <p:spPr>
          <a:xfrm>
            <a:off x="7937500" y="20320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4F7F5"/>
                </a:solidFill>
                <a:latin typeface="Space Grotesk"/>
                <a:ea typeface="Space Grotesk"/>
              </a:rPr>
              <a:t>02 / Landing Page</a:t>
            </a:r>
            <a:endParaRPr lang="en-US" sz="2000" noProof="1"/>
          </a:p>
        </p:txBody>
      </p:sp>
      <p:sp>
        <p:nvSpPr>
          <p:cNvPr id="23" name="side-desc1"/>
          <p:cNvSpPr txBox="1"/>
          <p:nvPr/>
        </p:nvSpPr>
        <p:spPr>
          <a:xfrm>
            <a:off x="7937500" y="25019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A0AFA6"/>
                </a:solidFill>
                <a:latin typeface="Space Grotesk"/>
                <a:ea typeface="Space Grotesk"/>
              </a:rPr>
              <a:t>A modern, conversion-focused landing page.</a:t>
            </a:r>
            <a:endParaRPr lang="en-US" sz="1200" noProof="1"/>
          </a:p>
        </p:txBody>
      </p:sp>
      <p:sp>
        <p:nvSpPr>
          <p:cNvPr id="24" name="side-tags1"/>
          <p:cNvSpPr txBox="1"/>
          <p:nvPr/>
        </p:nvSpPr>
        <p:spPr>
          <a:xfrm>
            <a:off x="7937500" y="30099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UI/UX   RESPONSIVE   CSS3</a:t>
            </a:r>
            <a:endParaRPr lang="en-US" sz="800" noProof="1"/>
          </a:p>
        </p:txBody>
      </p:sp>
      <p:sp>
        <p:nvSpPr>
          <p:cNvPr id="25" name="side-links1"/>
          <p:cNvSpPr txBox="1"/>
          <p:nvPr/>
        </p:nvSpPr>
        <p:spPr>
          <a:xfrm>
            <a:off x="7937500" y="33655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F4F7F5"/>
                </a:solidFill>
                <a:latin typeface="JetBrains Mono"/>
                <a:ea typeface="JetBrains Mono"/>
              </a:rPr>
              <a:t>LIVE DEMO ↗     SOURCE CODE &lt;/&gt;</a:t>
            </a:r>
            <a:endParaRPr lang="en-US" sz="900" noProof="1"/>
          </a:p>
        </p:txBody>
      </p:sp>
      <p:sp>
        <p:nvSpPr>
          <p:cNvPr id="26" name="side-card2"/>
          <p:cNvSpPr/>
          <p:nvPr/>
        </p:nvSpPr>
        <p:spPr>
          <a:xfrm>
            <a:off x="6159500" y="3975100"/>
            <a:ext cx="5422900" cy="2044700"/>
          </a:xfrm>
          <a:prstGeom prst="rect">
            <a:avLst/>
          </a:prstGeom>
          <a:solidFill>
            <a:srgbClr val="0C100E"/>
          </a:solidFill>
          <a:ln w="12700">
            <a:solidFill>
              <a:srgbClr val="00FF88">
                <a:alpha val="40000"/>
              </a:srgbClr>
            </a:solidFill>
          </a:ln>
        </p:spPr>
      </p:sp>
      <p:sp>
        <p:nvSpPr>
          <p:cNvPr id="27" name="side-thumb2"/>
          <p:cNvSpPr/>
          <p:nvPr/>
        </p:nvSpPr>
        <p:spPr>
          <a:xfrm>
            <a:off x="6159500" y="3975100"/>
            <a:ext cx="1473200" cy="2044700"/>
          </a:xfrm>
          <a:prstGeom prst="rect">
            <a:avLst/>
          </a:prstGeom>
          <a:solidFill>
            <a:srgbClr val="00FF88">
              <a:alpha val="4314"/>
            </a:srgbClr>
          </a:solidFill>
          <a:ln>
            <a:noFill/>
          </a:ln>
        </p:spPr>
      </p:sp>
      <p:sp>
        <p:nvSpPr>
          <p:cNvPr id="28" name="side-icon2"/>
          <p:cNvSpPr/>
          <p:nvPr>
            <p:extLst>
              <p:ext uri="{F5677B7D-0D2A-4D9B-9A5C-6D8D7D0E5A5D}">
                <pptd:icon encoding="base64url">eyJpY29uTmFtZSI6ImZhczpjb2RlIn0</pptd:icon>
              </p:ext>
            </p:extLst>
          </p:nvPr>
        </p:nvSpPr>
        <p:spPr>
          <a:xfrm>
            <a:off x="6642100" y="4673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9" name="side-title2"/>
          <p:cNvSpPr txBox="1"/>
          <p:nvPr/>
        </p:nvSpPr>
        <p:spPr>
          <a:xfrm>
            <a:off x="7937500" y="42037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4F7F5"/>
                </a:solidFill>
                <a:latin typeface="Space Grotesk"/>
                <a:ea typeface="Space Grotesk"/>
              </a:rPr>
              <a:t>03 / Web Application</a:t>
            </a:r>
            <a:endParaRPr lang="en-US" sz="2000" noProof="1"/>
          </a:p>
        </p:txBody>
      </p:sp>
      <p:sp>
        <p:nvSpPr>
          <p:cNvPr id="30" name="side-desc2"/>
          <p:cNvSpPr txBox="1"/>
          <p:nvPr/>
        </p:nvSpPr>
        <p:spPr>
          <a:xfrm>
            <a:off x="7937500" y="4673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A0AFA6"/>
                </a:solidFill>
                <a:latin typeface="Space Grotesk"/>
                <a:ea typeface="Space Grotesk"/>
              </a:rPr>
              <a:t>An interactive web experience.</a:t>
            </a:r>
            <a:endParaRPr lang="en-US" sz="1200" noProof="1"/>
          </a:p>
        </p:txBody>
      </p:sp>
      <p:sp>
        <p:nvSpPr>
          <p:cNvPr id="31" name="side-tags2"/>
          <p:cNvSpPr txBox="1"/>
          <p:nvPr/>
        </p:nvSpPr>
        <p:spPr>
          <a:xfrm>
            <a:off x="7937500" y="51943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JAVASCRIPT   UI/UX   HTML5</a:t>
            </a:r>
            <a:endParaRPr lang="en-US" sz="800" noProof="1"/>
          </a:p>
        </p:txBody>
      </p:sp>
      <p:sp>
        <p:nvSpPr>
          <p:cNvPr id="32" name="side-links2"/>
          <p:cNvSpPr txBox="1"/>
          <p:nvPr/>
        </p:nvSpPr>
        <p:spPr>
          <a:xfrm>
            <a:off x="7937500" y="5588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F4F7F5"/>
                </a:solidFill>
                <a:latin typeface="JetBrains Mono"/>
                <a:ea typeface="JetBrains Mono"/>
              </a:rPr>
              <a:t>LIVE DEMO ↗     SOURCE CODE &lt;/&gt;</a:t>
            </a:r>
            <a:endParaRPr lang="en-US" sz="900" noProof="1"/>
          </a:p>
        </p:txBody>
      </p:sp>
      <p:sp>
        <p:nvSpPr>
          <p:cNvPr id="33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06 / SERVICES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07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Four services. One consistent visual language.</a:t>
            </a:r>
            <a:endParaRPr lang="en-US" sz="3800" noProof="1"/>
          </a:p>
        </p:txBody>
      </p:sp>
      <p:sp>
        <p:nvSpPr>
          <p:cNvPr id="6" name="list-caption"/>
          <p:cNvSpPr txBox="1"/>
          <p:nvPr/>
        </p:nvSpPr>
        <p:spPr>
          <a:xfrm>
            <a:off x="609600" y="1739900"/>
            <a:ext cx="736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CAPABILITY / INTERFACE TREATMENT</a:t>
            </a:r>
            <a:endParaRPr lang="en-US" sz="900" noProof="1"/>
          </a:p>
        </p:txBody>
      </p:sp>
      <p:sp>
        <p:nvSpPr>
          <p:cNvPr id="7" name="service1-num"/>
          <p:cNvSpPr txBox="1"/>
          <p:nvPr/>
        </p:nvSpPr>
        <p:spPr>
          <a:xfrm>
            <a:off x="609600" y="2209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01</a:t>
            </a:r>
            <a:endParaRPr lang="en-US" sz="1300" noProof="1"/>
          </a:p>
        </p:txBody>
      </p:sp>
      <p:sp>
        <p:nvSpPr>
          <p:cNvPr id="8" name="service1-title"/>
          <p:cNvSpPr txBox="1"/>
          <p:nvPr/>
        </p:nvSpPr>
        <p:spPr>
          <a:xfrm>
            <a:off x="1473200" y="21082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F4F7F5"/>
                </a:solidFill>
                <a:latin typeface="Space Grotesk"/>
                <a:ea typeface="Space Grotesk"/>
              </a:rPr>
              <a:t>Website Development</a:t>
            </a:r>
            <a:endParaRPr lang="en-US" sz="2700" noProof="1"/>
          </a:p>
        </p:txBody>
      </p:sp>
      <p:sp>
        <p:nvSpPr>
          <p:cNvPr id="9" name="service1-arrow"/>
          <p:cNvSpPr txBox="1"/>
          <p:nvPr/>
        </p:nvSpPr>
        <p:spPr>
          <a:xfrm>
            <a:off x="7937500" y="21463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00FF88"/>
                </a:solidFill>
                <a:latin typeface="JetBrains Mono"/>
                <a:ea typeface="JetBrains Mono"/>
              </a:rPr>
              <a:t>↗</a:t>
            </a:r>
            <a:endParaRPr lang="en-US" sz="2200" noProof="1"/>
          </a:p>
        </p:txBody>
      </p:sp>
      <p:sp>
        <p:nvSpPr>
          <p:cNvPr id="10" name="service1-rule"/>
          <p:cNvSpPr/>
          <p:nvPr/>
        </p:nvSpPr>
        <p:spPr>
          <a:xfrm>
            <a:off x="609600" y="2717800"/>
            <a:ext cx="7874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1" name="service2-num"/>
          <p:cNvSpPr txBox="1"/>
          <p:nvPr/>
        </p:nvSpPr>
        <p:spPr>
          <a:xfrm>
            <a:off x="609600" y="31242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02</a:t>
            </a:r>
            <a:endParaRPr lang="en-US" sz="1300" noProof="1"/>
          </a:p>
        </p:txBody>
      </p:sp>
      <p:sp>
        <p:nvSpPr>
          <p:cNvPr id="12" name="service2-title"/>
          <p:cNvSpPr txBox="1"/>
          <p:nvPr/>
        </p:nvSpPr>
        <p:spPr>
          <a:xfrm>
            <a:off x="1473200" y="30226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F4F7F5"/>
                </a:solidFill>
                <a:latin typeface="Space Grotesk"/>
                <a:ea typeface="Space Grotesk"/>
              </a:rPr>
              <a:t>Responsive Web Design</a:t>
            </a:r>
            <a:endParaRPr lang="en-US" sz="2700" noProof="1"/>
          </a:p>
        </p:txBody>
      </p:sp>
      <p:sp>
        <p:nvSpPr>
          <p:cNvPr id="13" name="service2-arrow"/>
          <p:cNvSpPr txBox="1"/>
          <p:nvPr/>
        </p:nvSpPr>
        <p:spPr>
          <a:xfrm>
            <a:off x="7937500" y="30607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617068"/>
                </a:solidFill>
                <a:latin typeface="JetBrains Mono"/>
                <a:ea typeface="JetBrains Mono"/>
              </a:rPr>
              <a:t>↗</a:t>
            </a:r>
            <a:endParaRPr lang="en-US" sz="2200" noProof="1"/>
          </a:p>
        </p:txBody>
      </p:sp>
      <p:sp>
        <p:nvSpPr>
          <p:cNvPr id="14" name="service2-rule"/>
          <p:cNvSpPr/>
          <p:nvPr/>
        </p:nvSpPr>
        <p:spPr>
          <a:xfrm>
            <a:off x="609600" y="3632200"/>
            <a:ext cx="7874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5" name="service3-num"/>
          <p:cNvSpPr txBox="1"/>
          <p:nvPr/>
        </p:nvSpPr>
        <p:spPr>
          <a:xfrm>
            <a:off x="609600" y="40386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03</a:t>
            </a:r>
            <a:endParaRPr lang="en-US" sz="1300" noProof="1"/>
          </a:p>
        </p:txBody>
      </p:sp>
      <p:sp>
        <p:nvSpPr>
          <p:cNvPr id="16" name="service3-title"/>
          <p:cNvSpPr txBox="1"/>
          <p:nvPr/>
        </p:nvSpPr>
        <p:spPr>
          <a:xfrm>
            <a:off x="1473200" y="39370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F4F7F5"/>
                </a:solidFill>
                <a:latin typeface="Space Grotesk"/>
                <a:ea typeface="Space Grotesk"/>
              </a:rPr>
              <a:t>Landing Page Design</a:t>
            </a:r>
            <a:endParaRPr lang="en-US" sz="2700" noProof="1"/>
          </a:p>
        </p:txBody>
      </p:sp>
      <p:sp>
        <p:nvSpPr>
          <p:cNvPr id="17" name="service3-arrow"/>
          <p:cNvSpPr txBox="1"/>
          <p:nvPr/>
        </p:nvSpPr>
        <p:spPr>
          <a:xfrm>
            <a:off x="7937500" y="39751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617068"/>
                </a:solidFill>
                <a:latin typeface="JetBrains Mono"/>
                <a:ea typeface="JetBrains Mono"/>
              </a:rPr>
              <a:t>↗</a:t>
            </a:r>
            <a:endParaRPr lang="en-US" sz="2200" noProof="1"/>
          </a:p>
        </p:txBody>
      </p:sp>
      <p:sp>
        <p:nvSpPr>
          <p:cNvPr id="18" name="service3-rule"/>
          <p:cNvSpPr/>
          <p:nvPr/>
        </p:nvSpPr>
        <p:spPr>
          <a:xfrm>
            <a:off x="609600" y="4546600"/>
            <a:ext cx="7874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9" name="service4-num"/>
          <p:cNvSpPr txBox="1"/>
          <p:nvPr/>
        </p:nvSpPr>
        <p:spPr>
          <a:xfrm>
            <a:off x="609600" y="4953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04</a:t>
            </a:r>
            <a:endParaRPr lang="en-US" sz="1300" noProof="1"/>
          </a:p>
        </p:txBody>
      </p:sp>
      <p:sp>
        <p:nvSpPr>
          <p:cNvPr id="20" name="service4-title"/>
          <p:cNvSpPr txBox="1"/>
          <p:nvPr/>
        </p:nvSpPr>
        <p:spPr>
          <a:xfrm>
            <a:off x="1473200" y="48514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F4F7F5"/>
                </a:solidFill>
                <a:latin typeface="Space Grotesk"/>
                <a:ea typeface="Space Grotesk"/>
              </a:rPr>
              <a:t>Website UI Improvements</a:t>
            </a:r>
            <a:endParaRPr lang="en-US" sz="2700" noProof="1"/>
          </a:p>
        </p:txBody>
      </p:sp>
      <p:sp>
        <p:nvSpPr>
          <p:cNvPr id="21" name="service4-arrow"/>
          <p:cNvSpPr txBox="1"/>
          <p:nvPr/>
        </p:nvSpPr>
        <p:spPr>
          <a:xfrm>
            <a:off x="7937500" y="48895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617068"/>
                </a:solidFill>
                <a:latin typeface="JetBrains Mono"/>
                <a:ea typeface="JetBrains Mono"/>
              </a:rPr>
              <a:t>↗</a:t>
            </a:r>
            <a:endParaRPr lang="en-US" sz="2200" noProof="1"/>
          </a:p>
        </p:txBody>
      </p:sp>
      <p:sp>
        <p:nvSpPr>
          <p:cNvPr id="22" name="service4-rule"/>
          <p:cNvSpPr/>
          <p:nvPr/>
        </p:nvSpPr>
        <p:spPr>
          <a:xfrm>
            <a:off x="609600" y="5461000"/>
            <a:ext cx="78740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3" name="hover-specimen"/>
          <p:cNvSpPr/>
          <p:nvPr/>
        </p:nvSpPr>
        <p:spPr>
          <a:xfrm>
            <a:off x="9067800" y="1879600"/>
            <a:ext cx="2514600" cy="3581400"/>
          </a:xfrm>
          <a:prstGeom prst="rect">
            <a:avLst/>
          </a:prstGeom>
          <a:solidFill>
            <a:srgbClr val="0C100E">
              <a:alpha val="80000"/>
            </a:srgbClr>
          </a:solidFill>
          <a:ln w="12700">
            <a:solidFill>
              <a:srgbClr val="00FF88"/>
            </a:solidFill>
          </a:ln>
          <a:effectLst>
            <a:outerShdw blurRad="228600" dist="0" dir="0" sx="100000" sy="100000" kx="0" ky="0" algn="bl" rotWithShape="0">
              <a:srgbClr val="00FF88">
                <a:alpha val="14902"/>
              </a:srgbClr>
            </a:outerShdw>
          </a:effectLst>
        </p:spPr>
      </p:sp>
      <p:sp>
        <p:nvSpPr>
          <p:cNvPr id="24" name="hover-label"/>
          <p:cNvSpPr txBox="1"/>
          <p:nvPr/>
        </p:nvSpPr>
        <p:spPr>
          <a:xfrm>
            <a:off x="9347200" y="2159000"/>
            <a:ext cx="1955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HOVER STATE</a:t>
            </a:r>
            <a:endParaRPr lang="en-US" sz="900" noProof="1"/>
          </a:p>
        </p:txBody>
      </p:sp>
      <p:sp>
        <p:nvSpPr>
          <p:cNvPr id="25" name="hover-icon"/>
          <p:cNvSpPr/>
          <p:nvPr>
            <p:extLst>
              <p:ext uri="{F5677B7D-0D2A-4D9B-9A5C-6D8D7D0E5A5D}">
                <pptd:icon encoding="base64url">eyJpY29uTmFtZSI6ImZhczpkaXNwbGF5In0</pptd:icon>
              </p:ext>
            </p:extLst>
          </p:nvPr>
        </p:nvSpPr>
        <p:spPr>
          <a:xfrm>
            <a:off x="9347200" y="269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6" name="hover-title"/>
          <p:cNvSpPr txBox="1"/>
          <p:nvPr/>
        </p:nvSpPr>
        <p:spPr>
          <a:xfrm>
            <a:off x="9347200" y="34671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0000"/>
              </a:lnSpc>
            </a:pPr>
            <a:r>
              <a:rPr lang="en-US" sz="2200" noProof="1" b="1">
                <a:solidFill>
                  <a:srgbClr val="F4F7F5"/>
                </a:solidFill>
                <a:latin typeface="Space Grotesk"/>
                <a:ea typeface="Space Grotesk"/>
              </a:rPr>
              <a:t>SUBTLE
NEON BORDER</a:t>
            </a:r>
            <a:endParaRPr lang="en-US" sz="2200" noProof="1"/>
          </a:p>
        </p:txBody>
      </p:sp>
      <p:sp>
        <p:nvSpPr>
          <p:cNvPr id="27" name="hover-copy"/>
          <p:cNvSpPr txBox="1"/>
          <p:nvPr/>
        </p:nvSpPr>
        <p:spPr>
          <a:xfrm>
            <a:off x="9347200" y="43688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A0AFA6"/>
                </a:solidFill>
                <a:latin typeface="Space Grotesk"/>
                <a:ea typeface="Space Grotesk"/>
              </a:rPr>
              <a:t>A restrained lift and glow communicate interactivity.</a:t>
            </a:r>
            <a:endParaRPr lang="en-US" sz="1200" noProof="1"/>
          </a:p>
        </p:txBody>
      </p:sp>
      <p:sp>
        <p:nvSpPr>
          <p:cNvPr id="28" name="service-foot"/>
          <p:cNvSpPr txBox="1"/>
          <p:nvPr/>
        </p:nvSpPr>
        <p:spPr>
          <a:xfrm>
            <a:off x="9067800" y="5727700"/>
            <a:ext cx="2514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CONSISTENT TIMING
KEYBOARD-SAFE STATES</a:t>
            </a:r>
            <a:endParaRPr lang="en-US" sz="800" noProof="1"/>
          </a:p>
        </p:txBody>
      </p:sp>
      <p:sp>
        <p:nvSpPr>
          <p:cNvPr id="29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07 / INTERACTION SYSTEM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08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Motion with clear jobs and safe fallbacks.</a:t>
            </a:r>
            <a:endParaRPr lang="en-US" sz="3800" noProof="1"/>
          </a:p>
        </p:txBody>
      </p:sp>
      <p:sp>
        <p:nvSpPr>
          <p:cNvPr id="6" name="group1-num"/>
          <p:cNvSpPr txBox="1"/>
          <p:nvPr/>
        </p:nvSpPr>
        <p:spPr>
          <a:xfrm>
            <a:off x="609600" y="18796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00FF88"/>
                </a:solidFill>
                <a:latin typeface="JetBrains Mono"/>
                <a:ea typeface="JetBrains Mono"/>
              </a:rPr>
              <a:t>01</a:t>
            </a:r>
            <a:endParaRPr lang="en-US" sz="3800" noProof="1"/>
          </a:p>
        </p:txBody>
      </p:sp>
      <p:sp>
        <p:nvSpPr>
          <p:cNvPr id="7" name="group1-title"/>
          <p:cNvSpPr txBox="1"/>
          <p:nvPr/>
        </p:nvSpPr>
        <p:spPr>
          <a:xfrm>
            <a:off x="609600" y="27051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4F7F5"/>
                </a:solidFill>
                <a:latin typeface="Space Grotesk"/>
                <a:ea typeface="Space Grotesk"/>
              </a:rPr>
              <a:t>IDENTITY + REVEAL</a:t>
            </a:r>
            <a:endParaRPr lang="en-US" sz="2200" noProof="1"/>
          </a:p>
        </p:txBody>
      </p:sp>
      <p:sp>
        <p:nvSpPr>
          <p:cNvPr id="8" name="group1-rule"/>
          <p:cNvSpPr/>
          <p:nvPr/>
        </p:nvSpPr>
        <p:spPr>
          <a:xfrm>
            <a:off x="609600" y="3263900"/>
            <a:ext cx="26035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9" name="group1-list"/>
          <p:cNvSpPr txBox="1"/>
          <p:nvPr/>
        </p:nvSpPr>
        <p:spPr>
          <a:xfrm>
            <a:off x="609600" y="3568700"/>
            <a:ext cx="2921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Typing animation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Glitch / text reveal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Scroll reveal</a:t>
            </a:r>
            <a:endParaRPr lang="en-US" sz="1200" noProof="1"/>
          </a:p>
        </p:txBody>
      </p:sp>
      <p:sp>
        <p:nvSpPr>
          <p:cNvPr id="10" name="divider1"/>
          <p:cNvSpPr/>
          <p:nvPr/>
        </p:nvSpPr>
        <p:spPr>
          <a:xfrm>
            <a:off x="3848100" y="1917700"/>
            <a:ext cx="12700" cy="32258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1" name="group2-num"/>
          <p:cNvSpPr txBox="1"/>
          <p:nvPr/>
        </p:nvSpPr>
        <p:spPr>
          <a:xfrm>
            <a:off x="4292600" y="18796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00FF88"/>
                </a:solidFill>
                <a:latin typeface="JetBrains Mono"/>
                <a:ea typeface="JetBrains Mono"/>
              </a:rPr>
              <a:t>02</a:t>
            </a:r>
            <a:endParaRPr lang="en-US" sz="3800" noProof="1"/>
          </a:p>
        </p:txBody>
      </p:sp>
      <p:sp>
        <p:nvSpPr>
          <p:cNvPr id="12" name="group2-title"/>
          <p:cNvSpPr txBox="1"/>
          <p:nvPr/>
        </p:nvSpPr>
        <p:spPr>
          <a:xfrm>
            <a:off x="4292600" y="27051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4F7F5"/>
                </a:solidFill>
                <a:latin typeface="Space Grotesk"/>
                <a:ea typeface="Space Grotesk"/>
              </a:rPr>
              <a:t>NAVIGATION</a:t>
            </a:r>
            <a:endParaRPr lang="en-US" sz="2200" noProof="1"/>
          </a:p>
        </p:txBody>
      </p:sp>
      <p:sp>
        <p:nvSpPr>
          <p:cNvPr id="13" name="group2-rule"/>
          <p:cNvSpPr/>
          <p:nvPr/>
        </p:nvSpPr>
        <p:spPr>
          <a:xfrm>
            <a:off x="4292600" y="3263900"/>
            <a:ext cx="26035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4" name="group2-list"/>
          <p:cNvSpPr txBox="1"/>
          <p:nvPr/>
        </p:nvSpPr>
        <p:spPr>
          <a:xfrm>
            <a:off x="4292600" y="3568700"/>
            <a:ext cx="2921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Smooth scrolling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Mobile nav toggle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Back-to-top control</a:t>
            </a:r>
            <a:endParaRPr lang="en-US" sz="1200" noProof="1"/>
          </a:p>
        </p:txBody>
      </p:sp>
      <p:sp>
        <p:nvSpPr>
          <p:cNvPr id="15" name="divider2"/>
          <p:cNvSpPr/>
          <p:nvPr/>
        </p:nvSpPr>
        <p:spPr>
          <a:xfrm>
            <a:off x="7531100" y="1917700"/>
            <a:ext cx="12700" cy="32258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6" name="group3-num"/>
          <p:cNvSpPr txBox="1"/>
          <p:nvPr/>
        </p:nvSpPr>
        <p:spPr>
          <a:xfrm>
            <a:off x="7975600" y="18796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00FF88"/>
                </a:solidFill>
                <a:latin typeface="JetBrains Mono"/>
                <a:ea typeface="JetBrains Mono"/>
              </a:rPr>
              <a:t>03</a:t>
            </a:r>
            <a:endParaRPr lang="en-US" sz="3800" noProof="1"/>
          </a:p>
        </p:txBody>
      </p:sp>
      <p:sp>
        <p:nvSpPr>
          <p:cNvPr id="17" name="group3-title"/>
          <p:cNvSpPr txBox="1"/>
          <p:nvPr/>
        </p:nvSpPr>
        <p:spPr>
          <a:xfrm>
            <a:off x="7975600" y="27051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4F7F5"/>
                </a:solidFill>
                <a:latin typeface="Space Grotesk"/>
                <a:ea typeface="Space Grotesk"/>
              </a:rPr>
              <a:t>FEEDBACK + CONTROL</a:t>
            </a:r>
            <a:endParaRPr lang="en-US" sz="2200" noProof="1"/>
          </a:p>
        </p:txBody>
      </p:sp>
      <p:sp>
        <p:nvSpPr>
          <p:cNvPr id="18" name="group3-rule"/>
          <p:cNvSpPr/>
          <p:nvPr/>
        </p:nvSpPr>
        <p:spPr>
          <a:xfrm>
            <a:off x="7975600" y="3263900"/>
            <a:ext cx="36068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9" name="group3-list"/>
          <p:cNvSpPr txBox="1"/>
          <p:nvPr/>
        </p:nvSpPr>
        <p:spPr>
          <a:xfrm>
            <a:off x="7975600" y="3568700"/>
            <a:ext cx="36068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Animated skill cards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Contact validation + status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A0AFA6"/>
                </a:solidFill>
                <a:latin typeface="JetBrains Mono"/>
                <a:ea typeface="JetBrains Mono"/>
              </a:rPr>
              <a:t>Custom cursor / desktop only</a:t>
            </a:r>
            <a:endParaRPr lang="en-US" sz="1200" noProof="1"/>
          </a:p>
        </p:txBody>
      </p:sp>
      <p:sp>
        <p:nvSpPr>
          <p:cNvPr id="20" name="motion-band"/>
          <p:cNvSpPr/>
          <p:nvPr/>
        </p:nvSpPr>
        <p:spPr>
          <a:xfrm>
            <a:off x="609600" y="5499100"/>
            <a:ext cx="10972800" cy="622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21" name="motion-icon"/>
          <p:cNvSpPr/>
          <p:nvPr>
            <p:extLst>
              <p:ext uri="{F5677B7D-0D2A-4D9B-9A5C-6D8D7D0E5A5D}">
                <pptd:icon encoding="base64url">eyJpY29uTmFtZSI6ImZhczp1bml2ZXJzYWwtYWNjZXNzIn0</pptd:icon>
              </p:ext>
            </p:extLst>
          </p:nvPr>
        </p:nvSpPr>
        <p:spPr>
          <a:xfrm>
            <a:off x="863600" y="5676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162" y="170"/>
                </a:moveTo>
                <a:cubicBezTo>
                  <a:pt x="149" y="165"/>
                  <a:pt x="135" y="170"/>
                  <a:pt x="130" y="183"/>
                </a:cubicBezTo>
                <a:cubicBezTo>
                  <a:pt x="125" y="195"/>
                  <a:pt x="130" y="209"/>
                  <a:pt x="143" y="214"/>
                </a:cubicBezTo>
                <a:lnTo>
                  <a:pt x="155" y="219"/>
                </a:lnTo>
                <a:cubicBezTo>
                  <a:pt x="172" y="227"/>
                  <a:pt x="190" y="232"/>
                  <a:pt x="208" y="235"/>
                </a:cubicBezTo>
                <a:lnTo>
                  <a:pt x="208" y="286"/>
                </a:lnTo>
                <a:cubicBezTo>
                  <a:pt x="208" y="290"/>
                  <a:pt x="207" y="294"/>
                  <a:pt x="206" y="298"/>
                </a:cubicBezTo>
                <a:lnTo>
                  <a:pt x="177" y="384"/>
                </a:lnTo>
                <a:cubicBezTo>
                  <a:pt x="173" y="397"/>
                  <a:pt x="180" y="410"/>
                  <a:pt x="193" y="415"/>
                </a:cubicBezTo>
                <a:cubicBezTo>
                  <a:pt x="205" y="419"/>
                  <a:pt x="219" y="412"/>
                  <a:pt x="223" y="399"/>
                </a:cubicBezTo>
                <a:lnTo>
                  <a:pt x="247" y="326"/>
                </a:lnTo>
                <a:cubicBezTo>
                  <a:pt x="249" y="322"/>
                  <a:pt x="252" y="320"/>
                  <a:pt x="256" y="320"/>
                </a:cubicBezTo>
                <a:cubicBezTo>
                  <a:pt x="260" y="320"/>
                  <a:pt x="264" y="322"/>
                  <a:pt x="265" y="326"/>
                </a:cubicBezTo>
                <a:lnTo>
                  <a:pt x="289" y="399"/>
                </a:lnTo>
                <a:cubicBezTo>
                  <a:pt x="294" y="412"/>
                  <a:pt x="307" y="419"/>
                  <a:pt x="320" y="415"/>
                </a:cubicBezTo>
                <a:cubicBezTo>
                  <a:pt x="332" y="410"/>
                  <a:pt x="339" y="397"/>
                  <a:pt x="335" y="384"/>
                </a:cubicBezTo>
                <a:lnTo>
                  <a:pt x="306" y="298"/>
                </a:lnTo>
                <a:cubicBezTo>
                  <a:pt x="305" y="294"/>
                  <a:pt x="304" y="290"/>
                  <a:pt x="304" y="286"/>
                </a:cubicBezTo>
                <a:lnTo>
                  <a:pt x="304" y="236"/>
                </a:lnTo>
                <a:cubicBezTo>
                  <a:pt x="322" y="232"/>
                  <a:pt x="340" y="227"/>
                  <a:pt x="358" y="219"/>
                </a:cubicBezTo>
                <a:lnTo>
                  <a:pt x="370" y="214"/>
                </a:lnTo>
                <a:cubicBezTo>
                  <a:pt x="382" y="209"/>
                  <a:pt x="387" y="195"/>
                  <a:pt x="382" y="183"/>
                </a:cubicBezTo>
                <a:cubicBezTo>
                  <a:pt x="377" y="170"/>
                  <a:pt x="363" y="165"/>
                  <a:pt x="351" y="170"/>
                </a:cubicBezTo>
                <a:lnTo>
                  <a:pt x="339" y="175"/>
                </a:lnTo>
                <a:cubicBezTo>
                  <a:pt x="313" y="186"/>
                  <a:pt x="285" y="192"/>
                  <a:pt x="256" y="192"/>
                </a:cubicBezTo>
                <a:cubicBezTo>
                  <a:pt x="228" y="192"/>
                  <a:pt x="200" y="186"/>
                  <a:pt x="173" y="175"/>
                </a:cubicBezTo>
                <a:lnTo>
                  <a:pt x="161" y="170"/>
                </a:lnTo>
                <a:close/>
                <a:moveTo>
                  <a:pt x="256" y="160"/>
                </a:moveTo>
                <a:cubicBezTo>
                  <a:pt x="278" y="160"/>
                  <a:pt x="296" y="142"/>
                  <a:pt x="296" y="120"/>
                </a:cubicBezTo>
                <a:cubicBezTo>
                  <a:pt x="296" y="98"/>
                  <a:pt x="278" y="80"/>
                  <a:pt x="256" y="80"/>
                </a:cubicBezTo>
                <a:cubicBezTo>
                  <a:pt x="234" y="80"/>
                  <a:pt x="216" y="98"/>
                  <a:pt x="216" y="120"/>
                </a:cubicBezTo>
                <a:cubicBezTo>
                  <a:pt x="216" y="142"/>
                  <a:pt x="234" y="160"/>
                  <a:pt x="256" y="160"/>
                </a:cubicBezTo>
                <a:close/>
              </a:path>
            </a:pathLst>
          </a:custGeom>
          <a:solidFill>
            <a:srgbClr val="050505"/>
          </a:solidFill>
          <a:ln>
            <a:noFill/>
          </a:ln>
        </p:spPr>
      </p:sp>
      <p:sp>
        <p:nvSpPr>
          <p:cNvPr id="22" name="motion-title"/>
          <p:cNvSpPr txBox="1"/>
          <p:nvPr/>
        </p:nvSpPr>
        <p:spPr>
          <a:xfrm>
            <a:off x="1320800" y="5638800"/>
            <a:ext cx="26035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050505"/>
                </a:solidFill>
                <a:latin typeface="JetBrains Mono"/>
                <a:ea typeface="JetBrains Mono"/>
              </a:rPr>
              <a:t>REDUCED-MOTION SUPPORT</a:t>
            </a:r>
            <a:endParaRPr lang="en-US" sz="1100" noProof="1"/>
          </a:p>
        </p:txBody>
      </p:sp>
      <p:sp>
        <p:nvSpPr>
          <p:cNvPr id="23" name="motion-copy"/>
          <p:cNvSpPr txBox="1"/>
          <p:nvPr/>
        </p:nvSpPr>
        <p:spPr>
          <a:xfrm>
            <a:off x="4191000" y="5626100"/>
            <a:ext cx="7048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50505"/>
                </a:solidFill>
                <a:latin typeface="Space Grotesk"/>
                <a:ea typeface="Space Grotesk"/>
              </a:rPr>
              <a:t>Honor user preferences; keep content readable and controls fully usable.</a:t>
            </a:r>
            <a:endParaRPr lang="en-US" sz="1300" noProof="1"/>
          </a:p>
        </p:txBody>
      </p:sp>
      <p:sp>
        <p:nvSpPr>
          <p:cNvPr id="24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08 / CONTACT + FOOTER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09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863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A useful form with an honest delivery state.</a:t>
            </a:r>
            <a:endParaRPr lang="en-US" sz="3800" noProof="1"/>
          </a:p>
        </p:txBody>
      </p:sp>
      <p:sp>
        <p:nvSpPr>
          <p:cNvPr id="6" name="form-shell"/>
          <p:cNvSpPr/>
          <p:nvPr/>
        </p:nvSpPr>
        <p:spPr>
          <a:xfrm>
            <a:off x="609600" y="1816100"/>
            <a:ext cx="6248400" cy="4076700"/>
          </a:xfrm>
          <a:prstGeom prst="rect">
            <a:avLst/>
          </a:prstGeom>
          <a:solidFill>
            <a:srgbClr val="0C100E"/>
          </a:solidFill>
          <a:ln w="12700">
            <a:solidFill>
              <a:srgbClr val="26332C"/>
            </a:solidFill>
          </a:ln>
        </p:spPr>
      </p:sp>
      <p:sp>
        <p:nvSpPr>
          <p:cNvPr id="7" name="form-heading"/>
          <p:cNvSpPr txBox="1"/>
          <p:nvPr/>
        </p:nvSpPr>
        <p:spPr>
          <a:xfrm>
            <a:off x="889000" y="2057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CLIENT-SIDE FORM / ACCESSIBLE LABELS</a:t>
            </a:r>
            <a:endParaRPr lang="en-US" sz="900" noProof="1"/>
          </a:p>
        </p:txBody>
      </p:sp>
      <p:sp>
        <p:nvSpPr>
          <p:cNvPr id="8" name="label-name"/>
          <p:cNvSpPr txBox="1"/>
          <p:nvPr/>
        </p:nvSpPr>
        <p:spPr>
          <a:xfrm>
            <a:off x="889000" y="25273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NAME</a:t>
            </a:r>
            <a:endParaRPr lang="en-US" sz="800" noProof="1"/>
          </a:p>
        </p:txBody>
      </p:sp>
      <p:sp>
        <p:nvSpPr>
          <p:cNvPr id="9" name="field-name"/>
          <p:cNvSpPr/>
          <p:nvPr/>
        </p:nvSpPr>
        <p:spPr>
          <a:xfrm>
            <a:off x="889000" y="2794000"/>
            <a:ext cx="2413000" cy="431800"/>
          </a:xfrm>
          <a:prstGeom prst="rect">
            <a:avLst/>
          </a:prstGeom>
          <a:solidFill>
            <a:srgbClr val="050505"/>
          </a:solidFill>
          <a:ln w="12700">
            <a:solidFill>
              <a:srgbClr val="26332C"/>
            </a:solidFill>
          </a:ln>
        </p:spPr>
      </p:sp>
      <p:sp>
        <p:nvSpPr>
          <p:cNvPr id="10" name="label-email"/>
          <p:cNvSpPr txBox="1"/>
          <p:nvPr/>
        </p:nvSpPr>
        <p:spPr>
          <a:xfrm>
            <a:off x="3530600" y="25273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EMAIL</a:t>
            </a:r>
            <a:endParaRPr lang="en-US" sz="800" noProof="1"/>
          </a:p>
        </p:txBody>
      </p:sp>
      <p:sp>
        <p:nvSpPr>
          <p:cNvPr id="11" name="field-email"/>
          <p:cNvSpPr/>
          <p:nvPr/>
        </p:nvSpPr>
        <p:spPr>
          <a:xfrm>
            <a:off x="3530600" y="2794000"/>
            <a:ext cx="3048000" cy="431800"/>
          </a:xfrm>
          <a:prstGeom prst="rect">
            <a:avLst/>
          </a:prstGeom>
          <a:solidFill>
            <a:srgbClr val="050505"/>
          </a:solidFill>
          <a:ln w="12700">
            <a:solidFill>
              <a:srgbClr val="26332C"/>
            </a:solidFill>
          </a:ln>
        </p:spPr>
      </p:sp>
      <p:sp>
        <p:nvSpPr>
          <p:cNvPr id="12" name="label-subject"/>
          <p:cNvSpPr txBox="1"/>
          <p:nvPr/>
        </p:nvSpPr>
        <p:spPr>
          <a:xfrm>
            <a:off x="889000" y="34417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SUBJECT</a:t>
            </a:r>
            <a:endParaRPr lang="en-US" sz="800" noProof="1"/>
          </a:p>
        </p:txBody>
      </p:sp>
      <p:sp>
        <p:nvSpPr>
          <p:cNvPr id="13" name="field-subject"/>
          <p:cNvSpPr/>
          <p:nvPr/>
        </p:nvSpPr>
        <p:spPr>
          <a:xfrm>
            <a:off x="889000" y="3708400"/>
            <a:ext cx="5689600" cy="431800"/>
          </a:xfrm>
          <a:prstGeom prst="rect">
            <a:avLst/>
          </a:prstGeom>
          <a:solidFill>
            <a:srgbClr val="050505"/>
          </a:solidFill>
          <a:ln w="12700">
            <a:solidFill>
              <a:srgbClr val="26332C"/>
            </a:solidFill>
          </a:ln>
        </p:spPr>
      </p:sp>
      <p:sp>
        <p:nvSpPr>
          <p:cNvPr id="14" name="label-message"/>
          <p:cNvSpPr txBox="1"/>
          <p:nvPr/>
        </p:nvSpPr>
        <p:spPr>
          <a:xfrm>
            <a:off x="889000" y="43561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MESSAGE</a:t>
            </a:r>
            <a:endParaRPr lang="en-US" sz="800" noProof="1"/>
          </a:p>
        </p:txBody>
      </p:sp>
      <p:sp>
        <p:nvSpPr>
          <p:cNvPr id="15" name="field-message"/>
          <p:cNvSpPr/>
          <p:nvPr/>
        </p:nvSpPr>
        <p:spPr>
          <a:xfrm>
            <a:off x="889000" y="4622800"/>
            <a:ext cx="3987800" cy="889000"/>
          </a:xfrm>
          <a:prstGeom prst="rect">
            <a:avLst/>
          </a:prstGeom>
          <a:solidFill>
            <a:srgbClr val="050505"/>
          </a:solidFill>
          <a:ln w="12700">
            <a:solidFill>
              <a:srgbClr val="26332C"/>
            </a:solidFill>
          </a:ln>
        </p:spPr>
      </p:sp>
      <p:sp>
        <p:nvSpPr>
          <p:cNvPr id="16" name="submit"/>
          <p:cNvSpPr/>
          <p:nvPr/>
        </p:nvSpPr>
        <p:spPr>
          <a:xfrm>
            <a:off x="5080000" y="4902200"/>
            <a:ext cx="1498600" cy="6096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17" name="submit-label"/>
          <p:cNvSpPr txBox="1"/>
          <p:nvPr/>
        </p:nvSpPr>
        <p:spPr>
          <a:xfrm>
            <a:off x="5181600" y="5067300"/>
            <a:ext cx="1295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b="1">
                <a:solidFill>
                  <a:srgbClr val="050505"/>
                </a:solidFill>
                <a:latin typeface="JetBrains Mono"/>
                <a:ea typeface="JetBrains Mono"/>
              </a:rPr>
              <a:t>VALIDATE  →</a:t>
            </a:r>
            <a:endParaRPr lang="en-US" sz="1000" noProof="1"/>
          </a:p>
        </p:txBody>
      </p:sp>
      <p:sp>
        <p:nvSpPr>
          <p:cNvPr id="18" name="form-status"/>
          <p:cNvSpPr txBox="1"/>
          <p:nvPr/>
        </p:nvSpPr>
        <p:spPr>
          <a:xfrm>
            <a:off x="889000" y="5626100"/>
            <a:ext cx="568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STATUS AREA / CLEAR SUCCESS OR ERROR MESSAGE</a:t>
            </a:r>
            <a:endParaRPr lang="en-US" sz="800" noProof="1"/>
          </a:p>
        </p:txBody>
      </p:sp>
      <p:sp>
        <p:nvSpPr>
          <p:cNvPr id="19" name="contact-heading"/>
          <p:cNvSpPr txBox="1"/>
          <p:nvPr/>
        </p:nvSpPr>
        <p:spPr>
          <a:xfrm>
            <a:off x="7442200" y="1816100"/>
            <a:ext cx="41402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5000"/>
              </a:lnSpc>
            </a:pPr>
            <a:r>
              <a:rPr lang="en-US" sz="3400" noProof="1" b="1">
                <a:solidFill>
                  <a:srgbClr val="F4F7F5"/>
                </a:solidFill>
                <a:latin typeface="Space Grotesk"/>
                <a:ea typeface="Space Grotesk"/>
              </a:rPr>
              <a:t>LET'S BUILD</a:t>
            </a:r>
            <a:endParaRPr lang="en-US" sz="3400" noProof="1"/>
          </a:p>
          <a:p>
            <a:pPr>
              <a:lnSpc>
                <a:spcPct val="105000"/>
              </a:lnSpc>
            </a:pPr>
            <a:r>
              <a:rPr lang="en-US" sz="3400" noProof="1" b="1">
                <a:solidFill>
                  <a:srgbClr val="F4F7F5"/>
                </a:solidFill>
                <a:latin typeface="Space Grotesk"/>
                <a:ea typeface="Space Grotesk"/>
              </a:rPr>
              <a:t>SOMETHING</a:t>
            </a:r>
            <a:endParaRPr lang="en-US" sz="3400" noProof="1"/>
          </a:p>
          <a:p>
            <a:pPr>
              <a:lnSpc>
                <a:spcPct val="105000"/>
              </a:lnSpc>
            </a:pPr>
            <a:r>
              <a:rPr lang="en-US" sz="3400" noProof="1" b="1">
                <a:solidFill>
                  <a:srgbClr val="00FF88"/>
                </a:solidFill>
                <a:latin typeface="Space Grotesk"/>
                <a:ea typeface="Space Grotesk"/>
              </a:rPr>
              <a:t>AWESOME</a:t>
            </a:r>
            <a:endParaRPr lang="en-US" sz="3400" noProof="1"/>
          </a:p>
        </p:txBody>
      </p:sp>
      <p:sp>
        <p:nvSpPr>
          <p:cNvPr id="20" name="contact-email-label"/>
          <p:cNvSpPr txBox="1"/>
          <p:nvPr/>
        </p:nvSpPr>
        <p:spPr>
          <a:xfrm>
            <a:off x="7442200" y="36068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EMAIL PLACEHOLDER</a:t>
            </a:r>
            <a:endParaRPr lang="en-US" sz="800" noProof="1"/>
          </a:p>
        </p:txBody>
      </p:sp>
      <p:sp>
        <p:nvSpPr>
          <p:cNvPr id="21" name="contact-email"/>
          <p:cNvSpPr txBox="1"/>
          <p:nvPr/>
        </p:nvSpPr>
        <p:spPr>
          <a:xfrm>
            <a:off x="7442200" y="3898900"/>
            <a:ext cx="4140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4F7F5"/>
                </a:solidFill>
                <a:latin typeface="JetBrains Mono"/>
                <a:ea typeface="JetBrains Mono"/>
              </a:rPr>
              <a:t>your.email@example.com</a:t>
            </a:r>
            <a:endParaRPr lang="en-US" sz="1200" noProof="1"/>
          </a:p>
        </p:txBody>
      </p:sp>
      <p:sp>
        <p:nvSpPr>
          <p:cNvPr id="22" name="social-rule"/>
          <p:cNvSpPr/>
          <p:nvPr/>
        </p:nvSpPr>
        <p:spPr>
          <a:xfrm>
            <a:off x="7442200" y="4368800"/>
            <a:ext cx="41402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23" name="github-icon"/>
          <p:cNvSpPr/>
          <p:nvPr>
            <p:extLst>
              <p:ext uri="{F5677B7D-0D2A-4D9B-9A5C-6D8D7D0E5A5D}">
                <pptd:icon encoding="base64url">eyJpY29uTmFtZSI6ImZhYjpnaXRodWIifQ</pptd:icon>
              </p:ext>
            </p:extLst>
          </p:nvPr>
        </p:nvSpPr>
        <p:spPr>
          <a:xfrm>
            <a:off x="7442200" y="463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4" y="397"/>
                </a:moveTo>
                <a:cubicBezTo>
                  <a:pt x="174" y="399"/>
                  <a:pt x="172" y="401"/>
                  <a:pt x="169" y="401"/>
                </a:cubicBezTo>
                <a:cubicBezTo>
                  <a:pt x="165" y="401"/>
                  <a:pt x="163" y="400"/>
                  <a:pt x="163" y="397"/>
                </a:cubicBezTo>
                <a:cubicBezTo>
                  <a:pt x="163" y="395"/>
                  <a:pt x="165" y="394"/>
                  <a:pt x="168" y="394"/>
                </a:cubicBezTo>
                <a:cubicBezTo>
                  <a:pt x="171" y="393"/>
                  <a:pt x="174" y="395"/>
                  <a:pt x="174" y="397"/>
                </a:cubicBezTo>
                <a:close/>
              </a:path>
              <a:path w="512" h="512">
                <a:moveTo>
                  <a:pt x="143" y="393"/>
                </a:moveTo>
                <a:cubicBezTo>
                  <a:pt x="142" y="395"/>
                  <a:pt x="144" y="397"/>
                  <a:pt x="147" y="398"/>
                </a:cubicBezTo>
                <a:cubicBezTo>
                  <a:pt x="150" y="399"/>
                  <a:pt x="153" y="398"/>
                  <a:pt x="153" y="396"/>
                </a:cubicBezTo>
                <a:cubicBezTo>
                  <a:pt x="154" y="394"/>
                  <a:pt x="152" y="391"/>
                  <a:pt x="149" y="391"/>
                </a:cubicBezTo>
                <a:cubicBezTo>
                  <a:pt x="146" y="390"/>
                  <a:pt x="144" y="391"/>
                  <a:pt x="143" y="393"/>
                </a:cubicBezTo>
                <a:close/>
              </a:path>
              <a:path w="512" h="512">
                <a:moveTo>
                  <a:pt x="187" y="391"/>
                </a:moveTo>
                <a:cubicBezTo>
                  <a:pt x="184" y="392"/>
                  <a:pt x="182" y="394"/>
                  <a:pt x="182" y="396"/>
                </a:cubicBezTo>
                <a:cubicBezTo>
                  <a:pt x="183" y="398"/>
                  <a:pt x="185" y="399"/>
                  <a:pt x="188" y="399"/>
                </a:cubicBezTo>
                <a:cubicBezTo>
                  <a:pt x="191" y="398"/>
                  <a:pt x="193" y="396"/>
                  <a:pt x="193" y="394"/>
                </a:cubicBezTo>
                <a:cubicBezTo>
                  <a:pt x="193" y="392"/>
                  <a:pt x="190" y="391"/>
                  <a:pt x="187" y="391"/>
                </a:cubicBezTo>
                <a:close/>
              </a:path>
              <a:path w="512" h="512">
                <a:moveTo>
                  <a:pt x="253" y="8"/>
                </a:moveTo>
                <a:cubicBezTo>
                  <a:pt x="114" y="8"/>
                  <a:pt x="8" y="113"/>
                  <a:pt x="8" y="252"/>
                </a:cubicBezTo>
                <a:cubicBezTo>
                  <a:pt x="8" y="363"/>
                  <a:pt x="78" y="458"/>
                  <a:pt x="178" y="491"/>
                </a:cubicBezTo>
                <a:cubicBezTo>
                  <a:pt x="190" y="494"/>
                  <a:pt x="195" y="486"/>
                  <a:pt x="195" y="479"/>
                </a:cubicBezTo>
                <a:cubicBezTo>
                  <a:pt x="195" y="473"/>
                  <a:pt x="195" y="439"/>
                  <a:pt x="195" y="418"/>
                </a:cubicBezTo>
                <a:cubicBezTo>
                  <a:pt x="195" y="418"/>
                  <a:pt x="125" y="433"/>
                  <a:pt x="110" y="388"/>
                </a:cubicBezTo>
                <a:cubicBezTo>
                  <a:pt x="110" y="388"/>
                  <a:pt x="98" y="359"/>
                  <a:pt x="82" y="351"/>
                </a:cubicBezTo>
                <a:cubicBezTo>
                  <a:pt x="82" y="351"/>
                  <a:pt x="59" y="336"/>
                  <a:pt x="84" y="336"/>
                </a:cubicBezTo>
                <a:cubicBezTo>
                  <a:pt x="84" y="336"/>
                  <a:pt x="109" y="338"/>
                  <a:pt x="122" y="362"/>
                </a:cubicBezTo>
                <a:cubicBezTo>
                  <a:pt x="144" y="400"/>
                  <a:pt x="181" y="389"/>
                  <a:pt x="195" y="383"/>
                </a:cubicBezTo>
                <a:cubicBezTo>
                  <a:pt x="197" y="367"/>
                  <a:pt x="204" y="355"/>
                  <a:pt x="211" y="349"/>
                </a:cubicBezTo>
                <a:cubicBezTo>
                  <a:pt x="155" y="343"/>
                  <a:pt x="99" y="335"/>
                  <a:pt x="99" y="238"/>
                </a:cubicBezTo>
                <a:cubicBezTo>
                  <a:pt x="99" y="211"/>
                  <a:pt x="106" y="197"/>
                  <a:pt x="122" y="179"/>
                </a:cubicBezTo>
                <a:cubicBezTo>
                  <a:pt x="120" y="173"/>
                  <a:pt x="111" y="146"/>
                  <a:pt x="125" y="112"/>
                </a:cubicBezTo>
                <a:cubicBezTo>
                  <a:pt x="146" y="105"/>
                  <a:pt x="194" y="139"/>
                  <a:pt x="194" y="139"/>
                </a:cubicBezTo>
                <a:cubicBezTo>
                  <a:pt x="214" y="133"/>
                  <a:pt x="236" y="130"/>
                  <a:pt x="257" y="130"/>
                </a:cubicBezTo>
                <a:cubicBezTo>
                  <a:pt x="278" y="130"/>
                  <a:pt x="300" y="133"/>
                  <a:pt x="320" y="139"/>
                </a:cubicBezTo>
                <a:cubicBezTo>
                  <a:pt x="320" y="139"/>
                  <a:pt x="368" y="105"/>
                  <a:pt x="389" y="112"/>
                </a:cubicBezTo>
                <a:cubicBezTo>
                  <a:pt x="402" y="146"/>
                  <a:pt x="394" y="173"/>
                  <a:pt x="391" y="179"/>
                </a:cubicBezTo>
                <a:cubicBezTo>
                  <a:pt x="407" y="197"/>
                  <a:pt x="417" y="211"/>
                  <a:pt x="417" y="238"/>
                </a:cubicBezTo>
                <a:cubicBezTo>
                  <a:pt x="417" y="335"/>
                  <a:pt x="358" y="343"/>
                  <a:pt x="302" y="349"/>
                </a:cubicBezTo>
                <a:cubicBezTo>
                  <a:pt x="311" y="357"/>
                  <a:pt x="319" y="372"/>
                  <a:pt x="319" y="395"/>
                </a:cubicBezTo>
                <a:cubicBezTo>
                  <a:pt x="319" y="429"/>
                  <a:pt x="319" y="471"/>
                  <a:pt x="319" y="479"/>
                </a:cubicBezTo>
                <a:cubicBezTo>
                  <a:pt x="319" y="485"/>
                  <a:pt x="324" y="493"/>
                  <a:pt x="336" y="491"/>
                </a:cubicBezTo>
                <a:cubicBezTo>
                  <a:pt x="436" y="458"/>
                  <a:pt x="504" y="363"/>
                  <a:pt x="504" y="252"/>
                </a:cubicBezTo>
                <a:cubicBezTo>
                  <a:pt x="504" y="113"/>
                  <a:pt x="392" y="8"/>
                  <a:pt x="253" y="8"/>
                </a:cubicBezTo>
                <a:close/>
              </a:path>
              <a:path w="512" h="512">
                <a:moveTo>
                  <a:pt x="105" y="353"/>
                </a:moveTo>
                <a:cubicBezTo>
                  <a:pt x="104" y="354"/>
                  <a:pt x="104" y="356"/>
                  <a:pt x="106" y="358"/>
                </a:cubicBezTo>
                <a:cubicBezTo>
                  <a:pt x="108" y="360"/>
                  <a:pt x="110" y="360"/>
                  <a:pt x="111" y="359"/>
                </a:cubicBezTo>
                <a:cubicBezTo>
                  <a:pt x="112" y="358"/>
                  <a:pt x="112" y="356"/>
                  <a:pt x="110" y="354"/>
                </a:cubicBezTo>
                <a:cubicBezTo>
                  <a:pt x="109" y="352"/>
                  <a:pt x="107" y="352"/>
                  <a:pt x="105" y="353"/>
                </a:cubicBezTo>
                <a:close/>
              </a:path>
              <a:path w="512" h="512">
                <a:moveTo>
                  <a:pt x="94" y="345"/>
                </a:moveTo>
                <a:cubicBezTo>
                  <a:pt x="94" y="346"/>
                  <a:pt x="95" y="348"/>
                  <a:pt x="97" y="349"/>
                </a:cubicBezTo>
                <a:cubicBezTo>
                  <a:pt x="98" y="350"/>
                  <a:pt x="100" y="349"/>
                  <a:pt x="101" y="348"/>
                </a:cubicBezTo>
                <a:cubicBezTo>
                  <a:pt x="102" y="347"/>
                  <a:pt x="101" y="345"/>
                  <a:pt x="99" y="344"/>
                </a:cubicBezTo>
                <a:cubicBezTo>
                  <a:pt x="97" y="343"/>
                  <a:pt x="95" y="344"/>
                  <a:pt x="94" y="345"/>
                </a:cubicBezTo>
                <a:close/>
              </a:path>
              <a:path w="512" h="512">
                <a:moveTo>
                  <a:pt x="127" y="380"/>
                </a:moveTo>
                <a:cubicBezTo>
                  <a:pt x="125" y="382"/>
                  <a:pt x="126" y="385"/>
                  <a:pt x="128" y="387"/>
                </a:cubicBezTo>
                <a:cubicBezTo>
                  <a:pt x="130" y="389"/>
                  <a:pt x="133" y="389"/>
                  <a:pt x="135" y="388"/>
                </a:cubicBezTo>
                <a:cubicBezTo>
                  <a:pt x="136" y="386"/>
                  <a:pt x="135" y="383"/>
                  <a:pt x="133" y="381"/>
                </a:cubicBezTo>
                <a:cubicBezTo>
                  <a:pt x="131" y="379"/>
                  <a:pt x="128" y="379"/>
                  <a:pt x="127" y="380"/>
                </a:cubicBezTo>
                <a:close/>
              </a:path>
              <a:path w="512" h="512">
                <a:moveTo>
                  <a:pt x="115" y="366"/>
                </a:moveTo>
                <a:cubicBezTo>
                  <a:pt x="114" y="367"/>
                  <a:pt x="114" y="369"/>
                  <a:pt x="115" y="372"/>
                </a:cubicBezTo>
                <a:cubicBezTo>
                  <a:pt x="117" y="374"/>
                  <a:pt x="120" y="375"/>
                  <a:pt x="121" y="374"/>
                </a:cubicBezTo>
                <a:cubicBezTo>
                  <a:pt x="123" y="373"/>
                  <a:pt x="123" y="370"/>
                  <a:pt x="121" y="368"/>
                </a:cubicBezTo>
                <a:cubicBezTo>
                  <a:pt x="120" y="365"/>
                  <a:pt x="117" y="364"/>
                  <a:pt x="115" y="366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4" name="instagram-icon"/>
          <p:cNvSpPr/>
          <p:nvPr>
            <p:extLst>
              <p:ext uri="{F5677B7D-0D2A-4D9B-9A5C-6D8D7D0E5A5D}">
                <pptd:icon encoding="base64url">eyJpY29uTmFtZSI6ImZhYjppbnN0YWdyYW0ifQ</pptd:icon>
              </p:ext>
            </p:extLst>
          </p:nvPr>
        </p:nvSpPr>
        <p:spPr>
          <a:xfrm>
            <a:off x="8585200" y="463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141"/>
                </a:moveTo>
                <a:cubicBezTo>
                  <a:pt x="183" y="141"/>
                  <a:pt x="145" y="163"/>
                  <a:pt x="125" y="198"/>
                </a:cubicBezTo>
                <a:cubicBezTo>
                  <a:pt x="104" y="234"/>
                  <a:pt x="104" y="278"/>
                  <a:pt x="124" y="313"/>
                </a:cubicBezTo>
                <a:cubicBezTo>
                  <a:pt x="145" y="349"/>
                  <a:pt x="183" y="371"/>
                  <a:pt x="224" y="371"/>
                </a:cubicBezTo>
                <a:cubicBezTo>
                  <a:pt x="265" y="371"/>
                  <a:pt x="303" y="349"/>
                  <a:pt x="323" y="314"/>
                </a:cubicBezTo>
                <a:cubicBezTo>
                  <a:pt x="344" y="278"/>
                  <a:pt x="344" y="234"/>
                  <a:pt x="324" y="199"/>
                </a:cubicBezTo>
                <a:cubicBezTo>
                  <a:pt x="303" y="163"/>
                  <a:pt x="265" y="141"/>
                  <a:pt x="224" y="141"/>
                </a:cubicBezTo>
                <a:close/>
                <a:moveTo>
                  <a:pt x="224" y="181"/>
                </a:moveTo>
                <a:cubicBezTo>
                  <a:pt x="250" y="181"/>
                  <a:pt x="275" y="195"/>
                  <a:pt x="288" y="218"/>
                </a:cubicBezTo>
                <a:cubicBezTo>
                  <a:pt x="302" y="241"/>
                  <a:pt x="302" y="270"/>
                  <a:pt x="289" y="293"/>
                </a:cubicBezTo>
                <a:cubicBezTo>
                  <a:pt x="276" y="316"/>
                  <a:pt x="251" y="330"/>
                  <a:pt x="224" y="331"/>
                </a:cubicBezTo>
                <a:cubicBezTo>
                  <a:pt x="183" y="331"/>
                  <a:pt x="150" y="298"/>
                  <a:pt x="149" y="256"/>
                </a:cubicBezTo>
                <a:cubicBezTo>
                  <a:pt x="149" y="215"/>
                  <a:pt x="183" y="182"/>
                  <a:pt x="224" y="181"/>
                </a:cubicBezTo>
                <a:close/>
              </a:path>
              <a:path w="448" h="512">
                <a:moveTo>
                  <a:pt x="317" y="136"/>
                </a:moveTo>
                <a:cubicBezTo>
                  <a:pt x="317" y="121"/>
                  <a:pt x="329" y="110"/>
                  <a:pt x="344" y="110"/>
                </a:cubicBezTo>
                <a:cubicBezTo>
                  <a:pt x="359" y="110"/>
                  <a:pt x="371" y="121"/>
                  <a:pt x="371" y="136"/>
                </a:cubicBezTo>
                <a:cubicBezTo>
                  <a:pt x="371" y="151"/>
                  <a:pt x="359" y="163"/>
                  <a:pt x="344" y="163"/>
                </a:cubicBezTo>
                <a:cubicBezTo>
                  <a:pt x="329" y="163"/>
                  <a:pt x="317" y="151"/>
                  <a:pt x="317" y="136"/>
                </a:cubicBezTo>
                <a:close/>
              </a:path>
              <a:path w="448" h="512">
                <a:moveTo>
                  <a:pt x="447" y="164"/>
                </a:moveTo>
                <a:cubicBezTo>
                  <a:pt x="445" y="128"/>
                  <a:pt x="437" y="96"/>
                  <a:pt x="411" y="70"/>
                </a:cubicBezTo>
                <a:cubicBezTo>
                  <a:pt x="384" y="43"/>
                  <a:pt x="353" y="35"/>
                  <a:pt x="317" y="33"/>
                </a:cubicBezTo>
                <a:cubicBezTo>
                  <a:pt x="280" y="31"/>
                  <a:pt x="169" y="31"/>
                  <a:pt x="132" y="33"/>
                </a:cubicBezTo>
                <a:cubicBezTo>
                  <a:pt x="96" y="35"/>
                  <a:pt x="64" y="43"/>
                  <a:pt x="38" y="70"/>
                </a:cubicBezTo>
                <a:cubicBezTo>
                  <a:pt x="12" y="96"/>
                  <a:pt x="4" y="128"/>
                  <a:pt x="2" y="163"/>
                </a:cubicBezTo>
                <a:cubicBezTo>
                  <a:pt x="0" y="200"/>
                  <a:pt x="0" y="311"/>
                  <a:pt x="2" y="348"/>
                </a:cubicBezTo>
                <a:cubicBezTo>
                  <a:pt x="3" y="384"/>
                  <a:pt x="12" y="416"/>
                  <a:pt x="38" y="442"/>
                </a:cubicBezTo>
                <a:cubicBezTo>
                  <a:pt x="64" y="468"/>
                  <a:pt x="96" y="477"/>
                  <a:pt x="132" y="478"/>
                </a:cubicBezTo>
                <a:cubicBezTo>
                  <a:pt x="169" y="481"/>
                  <a:pt x="280" y="481"/>
                  <a:pt x="317" y="478"/>
                </a:cubicBezTo>
                <a:cubicBezTo>
                  <a:pt x="353" y="477"/>
                  <a:pt x="384" y="469"/>
                  <a:pt x="411" y="442"/>
                </a:cubicBezTo>
                <a:cubicBezTo>
                  <a:pt x="437" y="416"/>
                  <a:pt x="445" y="384"/>
                  <a:pt x="447" y="348"/>
                </a:cubicBezTo>
                <a:cubicBezTo>
                  <a:pt x="449" y="311"/>
                  <a:pt x="449" y="201"/>
                  <a:pt x="447" y="164"/>
                </a:cubicBezTo>
                <a:close/>
                <a:moveTo>
                  <a:pt x="399" y="388"/>
                </a:moveTo>
                <a:cubicBezTo>
                  <a:pt x="391" y="408"/>
                  <a:pt x="376" y="423"/>
                  <a:pt x="356" y="431"/>
                </a:cubicBezTo>
                <a:cubicBezTo>
                  <a:pt x="327" y="442"/>
                  <a:pt x="257" y="440"/>
                  <a:pt x="224" y="440"/>
                </a:cubicBezTo>
                <a:cubicBezTo>
                  <a:pt x="192" y="440"/>
                  <a:pt x="122" y="442"/>
                  <a:pt x="92" y="431"/>
                </a:cubicBezTo>
                <a:cubicBezTo>
                  <a:pt x="73" y="423"/>
                  <a:pt x="57" y="408"/>
                  <a:pt x="50" y="388"/>
                </a:cubicBezTo>
                <a:cubicBezTo>
                  <a:pt x="38" y="359"/>
                  <a:pt x="41" y="289"/>
                  <a:pt x="41" y="256"/>
                </a:cubicBezTo>
                <a:cubicBezTo>
                  <a:pt x="41" y="223"/>
                  <a:pt x="38" y="153"/>
                  <a:pt x="50" y="124"/>
                </a:cubicBezTo>
                <a:cubicBezTo>
                  <a:pt x="57" y="104"/>
                  <a:pt x="72" y="89"/>
                  <a:pt x="92" y="81"/>
                </a:cubicBezTo>
                <a:cubicBezTo>
                  <a:pt x="122" y="70"/>
                  <a:pt x="192" y="72"/>
                  <a:pt x="224" y="72"/>
                </a:cubicBezTo>
                <a:cubicBezTo>
                  <a:pt x="257" y="72"/>
                  <a:pt x="327" y="70"/>
                  <a:pt x="356" y="81"/>
                </a:cubicBezTo>
                <a:cubicBezTo>
                  <a:pt x="376" y="89"/>
                  <a:pt x="391" y="104"/>
                  <a:pt x="399" y="124"/>
                </a:cubicBezTo>
                <a:cubicBezTo>
                  <a:pt x="411" y="153"/>
                  <a:pt x="408" y="223"/>
                  <a:pt x="408" y="256"/>
                </a:cubicBezTo>
                <a:cubicBezTo>
                  <a:pt x="408" y="289"/>
                  <a:pt x="411" y="359"/>
                  <a:pt x="399" y="388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5" name="linkedin-icon"/>
          <p:cNvSpPr/>
          <p:nvPr>
            <p:extLst>
              <p:ext uri="{F5677B7D-0D2A-4D9B-9A5C-6D8D7D0E5A5D}">
                <pptd:icon encoding="base64url">eyJpY29uTmFtZSI6ImZhYjpsaW5rZWRpbiJ9</pptd:icon>
              </p:ext>
            </p:extLst>
          </p:nvPr>
        </p:nvSpPr>
        <p:spPr>
          <a:xfrm>
            <a:off x="9728200" y="463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16" y="32"/>
                </a:moveTo>
                <a:lnTo>
                  <a:pt x="32" y="32"/>
                </a:lnTo>
                <a:cubicBezTo>
                  <a:pt x="14" y="32"/>
                  <a:pt x="0" y="47"/>
                  <a:pt x="0" y="64"/>
                </a:cubicBezTo>
                <a:lnTo>
                  <a:pt x="0" y="448"/>
                </a:lnTo>
                <a:cubicBezTo>
                  <a:pt x="0" y="466"/>
                  <a:pt x="14" y="480"/>
                  <a:pt x="32" y="480"/>
                </a:cubicBezTo>
                <a:lnTo>
                  <a:pt x="416" y="480"/>
                </a:lnTo>
                <a:cubicBezTo>
                  <a:pt x="434" y="480"/>
                  <a:pt x="448" y="466"/>
                  <a:pt x="448" y="448"/>
                </a:cubicBezTo>
                <a:lnTo>
                  <a:pt x="448" y="64"/>
                </a:lnTo>
                <a:cubicBezTo>
                  <a:pt x="448" y="47"/>
                  <a:pt x="434" y="32"/>
                  <a:pt x="416" y="32"/>
                </a:cubicBezTo>
                <a:close/>
                <a:moveTo>
                  <a:pt x="135" y="416"/>
                </a:moveTo>
                <a:lnTo>
                  <a:pt x="69" y="416"/>
                </a:lnTo>
                <a:lnTo>
                  <a:pt x="69" y="202"/>
                </a:lnTo>
                <a:lnTo>
                  <a:pt x="136" y="202"/>
                </a:lnTo>
                <a:lnTo>
                  <a:pt x="136" y="416"/>
                </a:lnTo>
                <a:lnTo>
                  <a:pt x="135" y="416"/>
                </a:lnTo>
                <a:close/>
                <a:moveTo>
                  <a:pt x="102" y="96"/>
                </a:moveTo>
                <a:cubicBezTo>
                  <a:pt x="123" y="96"/>
                  <a:pt x="141" y="113"/>
                  <a:pt x="141" y="135"/>
                </a:cubicBezTo>
                <a:cubicBezTo>
                  <a:pt x="141" y="156"/>
                  <a:pt x="123" y="173"/>
                  <a:pt x="102" y="173"/>
                </a:cubicBezTo>
                <a:cubicBezTo>
                  <a:pt x="81" y="173"/>
                  <a:pt x="64" y="156"/>
                  <a:pt x="64" y="135"/>
                </a:cubicBezTo>
                <a:cubicBezTo>
                  <a:pt x="64" y="113"/>
                  <a:pt x="81" y="96"/>
                  <a:pt x="102" y="96"/>
                </a:cubicBezTo>
                <a:close/>
                <a:moveTo>
                  <a:pt x="384" y="416"/>
                </a:moveTo>
                <a:lnTo>
                  <a:pt x="318" y="416"/>
                </a:lnTo>
                <a:lnTo>
                  <a:pt x="318" y="312"/>
                </a:lnTo>
                <a:cubicBezTo>
                  <a:pt x="318" y="287"/>
                  <a:pt x="317" y="255"/>
                  <a:pt x="283" y="255"/>
                </a:cubicBezTo>
                <a:cubicBezTo>
                  <a:pt x="249" y="255"/>
                  <a:pt x="243" y="282"/>
                  <a:pt x="243" y="310"/>
                </a:cubicBezTo>
                <a:lnTo>
                  <a:pt x="243" y="416"/>
                </a:lnTo>
                <a:lnTo>
                  <a:pt x="177" y="416"/>
                </a:lnTo>
                <a:lnTo>
                  <a:pt x="177" y="202"/>
                </a:lnTo>
                <a:lnTo>
                  <a:pt x="241" y="202"/>
                </a:lnTo>
                <a:lnTo>
                  <a:pt x="241" y="231"/>
                </a:lnTo>
                <a:lnTo>
                  <a:pt x="242" y="231"/>
                </a:lnTo>
                <a:cubicBezTo>
                  <a:pt x="251" y="215"/>
                  <a:pt x="272" y="197"/>
                  <a:pt x="305" y="197"/>
                </a:cubicBezTo>
                <a:cubicBezTo>
                  <a:pt x="372" y="197"/>
                  <a:pt x="384" y="241"/>
                  <a:pt x="384" y="299"/>
                </a:cubicBezTo>
                <a:lnTo>
                  <a:pt x="384" y="416"/>
                </a:ln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26" name="social-labels"/>
          <p:cNvSpPr txBox="1"/>
          <p:nvPr/>
        </p:nvSpPr>
        <p:spPr>
          <a:xfrm>
            <a:off x="7442200" y="5029200"/>
            <a:ext cx="4140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GITHUB              INSTAGRAM          LINKEDIN</a:t>
            </a:r>
            <a:endParaRPr lang="en-US" sz="800" noProof="1"/>
          </a:p>
        </p:txBody>
      </p:sp>
      <p:sp>
        <p:nvSpPr>
          <p:cNvPr id="27" name="backend-note"/>
          <p:cNvSpPr txBox="1"/>
          <p:nvPr/>
        </p:nvSpPr>
        <p:spPr>
          <a:xfrm>
            <a:off x="7442200" y="5461000"/>
            <a:ext cx="4140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A0AFA6"/>
                </a:solidFill>
                <a:latin typeface="Space Grotesk"/>
                <a:ea typeface="Space Grotesk"/>
              </a:rPr>
              <a:t>No message delivery is claimed until a backend or form service is configured.</a:t>
            </a:r>
            <a:endParaRPr lang="en-US" sz="1200" noProof="1"/>
          </a:p>
        </p:txBody>
      </p:sp>
      <p:sp>
        <p:nvSpPr>
          <p:cNvPr id="28" name="footer-exact"/>
          <p:cNvSpPr txBox="1"/>
          <p:nvPr/>
        </p:nvSpPr>
        <p:spPr>
          <a:xfrm>
            <a:off x="609600" y="6146800"/>
            <a:ext cx="825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F4F7F5"/>
                </a:solidFill>
                <a:latin typeface="JetBrains Mono"/>
                <a:ea typeface="JetBrains Mono"/>
              </a:rPr>
              <a:t>HICHCHI H4X © 2026 — CRAFTED WITH CODE &amp; CREATIVITY.</a:t>
            </a:r>
            <a:endParaRPr lang="en-US" sz="900" noProof="1"/>
          </a:p>
        </p:txBody>
      </p:sp>
      <p:sp>
        <p:nvSpPr>
          <p:cNvPr id="29" name="back-top"/>
          <p:cNvSpPr txBox="1"/>
          <p:nvPr/>
        </p:nvSpPr>
        <p:spPr>
          <a:xfrm>
            <a:off x="10109200" y="612140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BACK TO TOP  ↑</a:t>
            </a:r>
            <a:endParaRPr lang="en-US" sz="900" noProof="1"/>
          </a:p>
        </p:txBody>
      </p:sp>
      <p:sp>
        <p:nvSpPr>
          <p:cNvPr id="30" name="bottom-rule"/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mark"/>
          <p:cNvSpPr/>
          <p:nvPr/>
        </p:nvSpPr>
        <p:spPr>
          <a:xfrm>
            <a:off x="609600" y="381000"/>
            <a:ext cx="114300" cy="1143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863600" y="3175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09 / TECHNICAL HANDOFF</a:t>
            </a:r>
            <a:endParaRPr lang="en-US" sz="1000" noProof="1"/>
          </a:p>
        </p:txBody>
      </p:sp>
      <p:sp>
        <p:nvSpPr>
          <p:cNvPr id="4" name="page-num"/>
          <p:cNvSpPr txBox="1"/>
          <p:nvPr/>
        </p:nvSpPr>
        <p:spPr>
          <a:xfrm>
            <a:off x="10668000" y="31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10 / 10</a:t>
            </a:r>
            <a:endParaRPr lang="en-US" sz="100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9271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800" noProof="1" b="1">
                <a:solidFill>
                  <a:srgbClr val="F4F7F5"/>
                </a:solidFill>
                <a:latin typeface="Space Grotesk"/>
                <a:ea typeface="Space Grotesk"/>
              </a:rPr>
              <a:t>A dependency-free build with clear ownership.</a:t>
            </a:r>
            <a:endParaRPr lang="en-US" sz="3800" noProof="1"/>
          </a:p>
        </p:txBody>
      </p:sp>
      <p:sp>
        <p:nvSpPr>
          <p:cNvPr id="6" name="files-label"/>
          <p:cNvSpPr txBox="1"/>
          <p:nvPr/>
        </p:nvSpPr>
        <p:spPr>
          <a:xfrm>
            <a:off x="609600" y="1828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SOURCE FILES</a:t>
            </a:r>
            <a:endParaRPr lang="en-US" sz="900" noProof="1"/>
          </a:p>
        </p:txBody>
      </p:sp>
      <p:sp>
        <p:nvSpPr>
          <p:cNvPr id="7" name="code-shell"/>
          <p:cNvSpPr/>
          <p:nvPr/>
        </p:nvSpPr>
        <p:spPr>
          <a:xfrm>
            <a:off x="609600" y="2247900"/>
            <a:ext cx="3403600" cy="2628900"/>
          </a:xfrm>
          <a:prstGeom prst="rect">
            <a:avLst/>
          </a:prstGeom>
          <a:solidFill>
            <a:srgbClr val="0C100E"/>
          </a:solidFill>
          <a:ln w="12700">
            <a:solidFill>
              <a:srgbClr val="26332C"/>
            </a:solidFill>
          </a:ln>
        </p:spPr>
      </p:sp>
      <p:sp>
        <p:nvSpPr>
          <p:cNvPr id="8" name="file-icon"/>
          <p:cNvSpPr/>
          <p:nvPr>
            <p:extLst>
              <p:ext uri="{F5677B7D-0D2A-4D9B-9A5C-6D8D7D0E5A5D}">
                <pptd:icon encoding="base64url">eyJpY29uTmFtZSI6ImZhczpmb2xkZXItb3BlbiJ9</pptd:icon>
              </p:ext>
            </p:extLst>
          </p:nvPr>
        </p:nvSpPr>
        <p:spPr>
          <a:xfrm>
            <a:off x="876300" y="2514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" y="226"/>
                </a:moveTo>
                <a:lnTo>
                  <a:pt x="32" y="296"/>
                </a:lnTo>
                <a:lnTo>
                  <a:pt x="32" y="96"/>
                </a:lnTo>
                <a:cubicBezTo>
                  <a:pt x="32" y="61"/>
                  <a:pt x="61" y="32"/>
                  <a:pt x="96" y="32"/>
                </a:cubicBezTo>
                <a:lnTo>
                  <a:pt x="235" y="32"/>
                </a:lnTo>
                <a:cubicBezTo>
                  <a:pt x="249" y="32"/>
                  <a:pt x="262" y="37"/>
                  <a:pt x="274" y="45"/>
                </a:cubicBezTo>
                <a:lnTo>
                  <a:pt x="312" y="74"/>
                </a:lnTo>
                <a:cubicBezTo>
                  <a:pt x="317" y="78"/>
                  <a:pt x="324" y="80"/>
                  <a:pt x="331" y="80"/>
                </a:cubicBezTo>
                <a:lnTo>
                  <a:pt x="448" y="80"/>
                </a:lnTo>
                <a:cubicBezTo>
                  <a:pt x="484" y="80"/>
                  <a:pt x="512" y="109"/>
                  <a:pt x="512" y="144"/>
                </a:cubicBezTo>
                <a:lnTo>
                  <a:pt x="512" y="160"/>
                </a:lnTo>
                <a:lnTo>
                  <a:pt x="147" y="160"/>
                </a:lnTo>
                <a:cubicBezTo>
                  <a:pt x="106" y="160"/>
                  <a:pt x="69" y="186"/>
                  <a:pt x="56" y="226"/>
                </a:cubicBezTo>
                <a:close/>
                <a:moveTo>
                  <a:pt x="478" y="448"/>
                </a:moveTo>
                <a:lnTo>
                  <a:pt x="99" y="448"/>
                </a:lnTo>
                <a:cubicBezTo>
                  <a:pt x="66" y="448"/>
                  <a:pt x="43" y="416"/>
                  <a:pt x="54" y="385"/>
                </a:cubicBezTo>
                <a:lnTo>
                  <a:pt x="102" y="241"/>
                </a:lnTo>
                <a:cubicBezTo>
                  <a:pt x="108" y="221"/>
                  <a:pt x="126" y="208"/>
                  <a:pt x="147" y="208"/>
                </a:cubicBezTo>
                <a:lnTo>
                  <a:pt x="526" y="208"/>
                </a:lnTo>
                <a:cubicBezTo>
                  <a:pt x="559" y="208"/>
                  <a:pt x="582" y="240"/>
                  <a:pt x="571" y="271"/>
                </a:cubicBezTo>
                <a:lnTo>
                  <a:pt x="523" y="415"/>
                </a:lnTo>
                <a:cubicBezTo>
                  <a:pt x="517" y="435"/>
                  <a:pt x="498" y="448"/>
                  <a:pt x="478" y="448"/>
                </a:cubicBezTo>
                <a:close/>
              </a:path>
            </a:pathLst>
          </a:custGeom>
          <a:solidFill>
            <a:srgbClr val="00FF88"/>
          </a:solidFill>
          <a:ln>
            <a:noFill/>
          </a:ln>
        </p:spPr>
      </p:sp>
      <p:sp>
        <p:nvSpPr>
          <p:cNvPr id="9" name="file-tree"/>
          <p:cNvSpPr txBox="1"/>
          <p:nvPr/>
        </p:nvSpPr>
        <p:spPr>
          <a:xfrm>
            <a:off x="876300" y="2997200"/>
            <a:ext cx="27940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4F7F5"/>
                </a:solidFill>
                <a:latin typeface="JetBrains Mono"/>
                <a:ea typeface="JetBrains Mono"/>
              </a:rPr>
              <a:t>/portfolio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A0AFA6"/>
                </a:solidFill>
                <a:latin typeface="JetBrains Mono"/>
                <a:ea typeface="JetBrains Mono"/>
              </a:rPr>
              <a:t>├── </a:t>
            </a: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index.html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A0AFA6"/>
                </a:solidFill>
                <a:latin typeface="JetBrains Mono"/>
                <a:ea typeface="JetBrains Mono"/>
              </a:rPr>
              <a:t>├── </a:t>
            </a: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style.css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A0AFA6"/>
                </a:solidFill>
                <a:latin typeface="JetBrains Mono"/>
                <a:ea typeface="JetBrains Mono"/>
              </a:rPr>
              <a:t>└── </a:t>
            </a:r>
            <a:r>
              <a:rPr lang="en-US" sz="1300" noProof="1">
                <a:solidFill>
                  <a:srgbClr val="00FF88"/>
                </a:solidFill>
                <a:latin typeface="JetBrains Mono"/>
                <a:ea typeface="JetBrains Mono"/>
              </a:rPr>
              <a:t>script.js</a:t>
            </a:r>
            <a:endParaRPr lang="en-US" sz="1300" noProof="1"/>
          </a:p>
        </p:txBody>
      </p:sp>
      <p:sp>
        <p:nvSpPr>
          <p:cNvPr id="10" name="stack-label"/>
          <p:cNvSpPr txBox="1"/>
          <p:nvPr/>
        </p:nvSpPr>
        <p:spPr>
          <a:xfrm>
            <a:off x="609600" y="51435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A0AFA6"/>
                </a:solidFill>
                <a:latin typeface="JetBrains Mono"/>
                <a:ea typeface="JetBrains Mono"/>
              </a:rPr>
              <a:t>HTML5 + CSS3 + VANILLA JS
NO FRAMEWORKS / NO DEPENDENCIES</a:t>
            </a:r>
            <a:endParaRPr lang="en-US" sz="900" noProof="1"/>
          </a:p>
        </p:txBody>
      </p:sp>
      <p:sp>
        <p:nvSpPr>
          <p:cNvPr id="11" name="divider1"/>
          <p:cNvSpPr/>
          <p:nvPr/>
        </p:nvSpPr>
        <p:spPr>
          <a:xfrm>
            <a:off x="4419600" y="1841500"/>
            <a:ext cx="12700" cy="38989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2" name="quality-label"/>
          <p:cNvSpPr txBox="1"/>
          <p:nvPr/>
        </p:nvSpPr>
        <p:spPr>
          <a:xfrm>
            <a:off x="4851400" y="18288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DEFINITION OF DONE</a:t>
            </a:r>
            <a:endParaRPr lang="en-US" sz="900" noProof="1"/>
          </a:p>
        </p:txBody>
      </p:sp>
      <p:sp>
        <p:nvSpPr>
          <p:cNvPr id="13" name="quality-list"/>
          <p:cNvSpPr txBox="1"/>
          <p:nvPr/>
        </p:nvSpPr>
        <p:spPr>
          <a:xfrm>
            <a:off x="4851400" y="2286000"/>
            <a:ext cx="3530600" cy="302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01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Semantic HTML + form labels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02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Responsive across breakpoints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03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Clean, commented, editable code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04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Optimized images + animations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05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Reduced-motion preferences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06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Functional links and buttons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07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No fabricated proof or claims</a:t>
            </a:r>
            <a:endParaRPr lang="en-US" sz="1400" noProof="1"/>
          </a:p>
        </p:txBody>
      </p:sp>
      <p:sp>
        <p:nvSpPr>
          <p:cNvPr id="14" name="divider2"/>
          <p:cNvSpPr/>
          <p:nvPr/>
        </p:nvSpPr>
        <p:spPr>
          <a:xfrm>
            <a:off x="8763000" y="1841500"/>
            <a:ext cx="12700" cy="3898900"/>
          </a:xfrm>
          <a:prstGeom prst="rect">
            <a:avLst/>
          </a:prstGeom>
          <a:solidFill>
            <a:srgbClr val="26332C"/>
          </a:solidFill>
          <a:ln>
            <a:noFill/>
          </a:ln>
        </p:spPr>
      </p:sp>
      <p:sp>
        <p:nvSpPr>
          <p:cNvPr id="15" name="run-label"/>
          <p:cNvSpPr txBox="1"/>
          <p:nvPr/>
        </p:nvSpPr>
        <p:spPr>
          <a:xfrm>
            <a:off x="9194800" y="1828800"/>
            <a:ext cx="238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spc="120" kern="0">
                <a:solidFill>
                  <a:srgbClr val="00FF88"/>
                </a:solidFill>
                <a:latin typeface="JetBrains Mono"/>
                <a:ea typeface="JetBrains Mono"/>
              </a:rPr>
              <a:t>RUN LOCALLY</a:t>
            </a:r>
            <a:endParaRPr lang="en-US" sz="900" noProof="1"/>
          </a:p>
        </p:txBody>
      </p:sp>
      <p:sp>
        <p:nvSpPr>
          <p:cNvPr id="16" name="run-steps"/>
          <p:cNvSpPr txBox="1"/>
          <p:nvPr/>
        </p:nvSpPr>
        <p:spPr>
          <a:xfrm>
            <a:off x="9194800" y="2286000"/>
            <a:ext cx="2387600" cy="1917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1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Save the three files in one folder.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2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Open index.html in a browser.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00FF88"/>
                </a:solidFill>
                <a:latin typeface="Space Grotesk"/>
                <a:ea typeface="Space Grotesk"/>
              </a:rPr>
              <a:t>3</a:t>
            </a:r>
            <a:r>
              <a:rPr lang="en-US" sz="1400" noProof="1">
                <a:solidFill>
                  <a:srgbClr val="A0AFA6"/>
                </a:solidFill>
                <a:latin typeface="Space Grotesk"/>
                <a:ea typeface="Space Grotesk"/>
              </a:rPr>
              <a:t>  Replace the labeled placeholders.</a:t>
            </a:r>
            <a:endParaRPr lang="en-US" sz="1400" noProof="1"/>
          </a:p>
        </p:txBody>
      </p:sp>
      <p:sp>
        <p:nvSpPr>
          <p:cNvPr id="17" name="run-shell"/>
          <p:cNvSpPr/>
          <p:nvPr/>
        </p:nvSpPr>
        <p:spPr>
          <a:xfrm>
            <a:off x="9194800" y="4445000"/>
            <a:ext cx="2387600" cy="812800"/>
          </a:xfrm>
          <a:prstGeom prst="rect">
            <a:avLst/>
          </a:prstGeom>
          <a:solidFill>
            <a:srgbClr val="00FF88">
              <a:alpha val="4314"/>
            </a:srgbClr>
          </a:solidFill>
          <a:ln w="12700">
            <a:solidFill>
              <a:srgbClr val="00FF88"/>
            </a:solidFill>
          </a:ln>
        </p:spPr>
      </p:sp>
      <p:sp>
        <p:nvSpPr>
          <p:cNvPr id="18" name="run-command"/>
          <p:cNvSpPr txBox="1"/>
          <p:nvPr/>
        </p:nvSpPr>
        <p:spPr>
          <a:xfrm>
            <a:off x="9398000" y="4660900"/>
            <a:ext cx="198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00FF88"/>
                </a:solidFill>
                <a:latin typeface="JetBrains Mono"/>
                <a:ea typeface="JetBrains Mono"/>
              </a:rPr>
              <a:t>&gt; open index.html_</a:t>
            </a:r>
            <a:endParaRPr lang="en-US" sz="1100" noProof="1"/>
          </a:p>
        </p:txBody>
      </p:sp>
      <p:sp>
        <p:nvSpPr>
          <p:cNvPr id="19" name="final-band"/>
          <p:cNvSpPr/>
          <p:nvPr/>
        </p:nvSpPr>
        <p:spPr>
          <a:xfrm>
            <a:off x="609600" y="5969000"/>
            <a:ext cx="10972800" cy="50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20" name="final-text"/>
          <p:cNvSpPr txBox="1"/>
          <p:nvPr/>
        </p:nvSpPr>
        <p:spPr>
          <a:xfrm>
            <a:off x="863600" y="6083300"/>
            <a:ext cx="1046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50505"/>
                </a:solidFill>
                <a:latin typeface="JetBrains Mono"/>
                <a:ea typeface="JetBrains Mono"/>
              </a:rPr>
              <a:t>FUTURISTIC / PREMIUM / ORIGINAL / PROFESSIONAL — READY TO CUSTOMIZE.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HICHCHI H4X — Portfolio Website Design &amp; Build Specification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